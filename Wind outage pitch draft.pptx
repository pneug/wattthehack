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seconds. Introduce the team in one breath and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Park T, three turbines, is out for three days. The neighbouring parks H and O kept measuring. The insurer needs one number: the lost energy in kWh, and how sure we are. Our job: rebuild T’s wind speed from the neighbours, run it through the power curve and sum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whole model is one line: T’s wind is a plus b times H’s wind plus c times O’s wind, one formula per turbine. Two refinements: we use 1-hour averages of the neighbours, because short gusts do not travel between parks, and a and b depend on the wind direction, because terrain lets T see between 84 and 93 percent of H’s wind. Everything can be printed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One validation week is luck. There the simple baseline looked perfect at plus 0.1 percent, but only because one turbine was 19 percent too high and another 8 percent too low. So we hid three days of park T at a time, 28 times across the summer, predicted each blind and compared with the truth. Over those 28 outages the baseline was off by 11 percent on average, our model by 8.5 percent. A repeat with an outage starting every day gave the same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Our biggest single gain. The power curve bends upward exactly where most energy is made. If the wind is a bit higher than our guess, power rises a lot; if it is a bit lower, power drops less. So plugging in the single best guess systematically under-counts energy: the baseline was 8.5 percent too low on average. We average the power over the range of plausible wind speeds instead, which removes the bias: plus 1.4 percent, statistically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Each dot is one simulated outage. The grey baseline sits mostly below zero: that bias is what we removed. What remains is the spread, about plus or minus 11 percent per outage. We found that an outage’s energy error is simply its three-day average wind error: errors fade within a few hours and all three turbines are wrong together, so nothing in the neighbour data can remove it. That is why we give the insurer a range: 322 megawatt hours for 1 to 3 September, between 262 and 387 with 95 percent confidence, a range built from 83 simulated outages.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We also tried flexible models: gradient boosting and a small neural network. Both did worse than our one-line formula, and the black box’s uncertainty band was too narrow. Most other extras added nothing either. So explainability did not cost us accuracy: the transparent model is also the most accurate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To sum up: tested on 28 simulated outages, the power fix removed the bias, and the remaining uncertainty is shown honestly as a range. For the judged outage that is 322 megawatt hours, between 262 and 387. Everything runs in our app: pick any outage window and get the lost energy with its range.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61E"/>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52321"/>
            <a:ext cx="10566400" cy="3992879"/>
          </a:xfrm>
          <a:prstGeom prst="rect">
            <a:avLst/>
          </a:prstGeom>
          <a:noFill/>
          <a:ln/>
        </p:spPr>
        <p:txBody>
          <a:bodyPr wrap="square" lIns="0" tIns="0" rIns="0" bIns="0" rtlCol="0" anchor="t"/>
          <a:lstStyle>
            <a:lvl1pPr algn="l" indent="0" marL="0">
              <a:lnSpc>
                <a:spcPct val="140000"/>
              </a:lnSpc>
              <a:buNone/>
              <a:defRPr lang="en-US" sz="1600" dirty="0">
                <a:solidFill>
                  <a:srgbClr val="14261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61E"/>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52321"/>
            <a:ext cx="10566400" cy="3992879"/>
          </a:xfrm>
          <a:prstGeom prst="rect">
            <a:avLst/>
          </a:prstGeom>
          <a:noFill/>
          <a:ln/>
        </p:spPr>
        <p:txBody>
          <a:bodyPr wrap="square" lIns="0" tIns="0" rIns="0" bIns="0" rtlCol="0" anchor="t"/>
          <a:lstStyle>
            <a:lvl1pPr algn="l" indent="0" marL="0">
              <a:lnSpc>
                <a:spcPct val="140000"/>
              </a:lnSpc>
              <a:buNone/>
              <a:defRPr lang="en-US" sz="1600" dirty="0">
                <a:solidFill>
                  <a:srgbClr val="14261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C"/>
        </a:solidFill>
      </p:bgPr>
    </p:bg>
    <p:spTree>
      <p:nvGrpSpPr>
        <p:cNvPr id="1" name=""/>
        <p:cNvGrpSpPr/>
        <p:nvPr/>
      </p:nvGrpSpPr>
      <p:grpSpPr>
        <a:xfrm>
          <a:off x="0" y="0"/>
          <a:ext cx="0" cy="0"/>
          <a:chOff x="0" y="0"/>
          <a:chExt cx="0" cy="0"/>
        </a:xfrm>
      </p:grpSpPr>
      <p:sp>
        <p:nvSpPr>
          <p:cNvPr id="2" name="Text 0"/>
          <p:cNvSpPr/>
          <p:nvPr/>
        </p:nvSpPr>
        <p:spPr>
          <a:xfrm>
            <a:off x="812800" y="16560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AD804"/>
                </a:solidFill>
                <a:latin typeface="Arial" pitchFamily="34" charset="0"/>
                <a:ea typeface="Arial" pitchFamily="34" charset="-122"/>
                <a:cs typeface="Arial" pitchFamily="34" charset="-120"/>
              </a:rPr>
              <a:t>WATT THE HACK 2026 · CHALLENGE 1</a:t>
            </a:r>
            <a:endParaRPr lang="en-US" sz="1400" dirty="0"/>
          </a:p>
        </p:txBody>
      </p:sp>
      <p:sp>
        <p:nvSpPr>
          <p:cNvPr id="3" name="Text 1"/>
          <p:cNvSpPr/>
          <p:nvPr>
            <p:ph type="title"/>
          </p:nvPr>
        </p:nvSpPr>
        <p:spPr>
          <a:xfrm>
            <a:off x="812800" y="2159000"/>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7F2"/>
                </a:solidFill>
                <a:latin typeface="Arial" pitchFamily="34" charset="0"/>
                <a:ea typeface="Arial" pitchFamily="34" charset="-122"/>
                <a:cs typeface="Arial" pitchFamily="34" charset="-120"/>
              </a:rPr>
              <a:t>How much energy did the outage cost?</a:t>
            </a:r>
            <a:endParaRPr lang="en-US" sz="6000" dirty="0"/>
          </a:p>
        </p:txBody>
      </p:sp>
      <p:sp>
        <p:nvSpPr>
          <p:cNvPr id="4" name="Text 2"/>
          <p:cNvSpPr/>
          <p:nvPr/>
        </p:nvSpPr>
        <p:spPr>
          <a:xfrm>
            <a:off x="812800" y="4013200"/>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D8CB"/>
                </a:solidFill>
                <a:latin typeface="Arial" pitchFamily="34" charset="0"/>
                <a:ea typeface="Arial" pitchFamily="34" charset="-122"/>
                <a:cs typeface="Arial" pitchFamily="34" charset="-120"/>
              </a:rPr>
              <a:t>Rebuilding a wind park’s lost energy from its neighbours, with an honest uncertainty range</a:t>
            </a:r>
            <a:endParaRPr lang="en-US" sz="2000" dirty="0"/>
          </a:p>
        </p:txBody>
      </p:sp>
      <p:sp>
        <p:nvSpPr>
          <p:cNvPr id="5" name="Text 3"/>
          <p:cNvSpPr/>
          <p:nvPr/>
        </p:nvSpPr>
        <p:spPr>
          <a:xfrm>
            <a:off x="812800" y="49530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8CB"/>
                </a:solidFill>
                <a:latin typeface="Arial" pitchFamily="34" charset="0"/>
                <a:ea typeface="Arial" pitchFamily="34" charset="-122"/>
                <a:cs typeface="Arial" pitchFamily="34" charset="-120"/>
              </a:rPr>
              <a:t>[Team name] · [Names]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2801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Park T is down for three days</a:t>
            </a:r>
            <a:endParaRPr lang="en-US" sz="3200" dirty="0"/>
          </a:p>
        </p:txBody>
      </p:sp>
      <p:sp>
        <p:nvSpPr>
          <p:cNvPr id="4" name="Shape 2"/>
          <p:cNvSpPr/>
          <p:nvPr/>
        </p:nvSpPr>
        <p:spPr>
          <a:xfrm>
            <a:off x="815975" y="2124075"/>
            <a:ext cx="2672477" cy="1466850"/>
          </a:xfrm>
          <a:prstGeom prst="roundRect">
            <a:avLst>
              <a:gd name="adj" fmla="val 10173"/>
            </a:avLst>
          </a:prstGeom>
          <a:solidFill>
            <a:srgbClr val="FCFDFB"/>
          </a:solidFill>
          <a:ln w="6350">
            <a:solidFill>
              <a:srgbClr val="D5DED8"/>
            </a:solidFill>
            <a:prstDash val="solid"/>
          </a:ln>
        </p:spPr>
      </p:sp>
      <p:sp>
        <p:nvSpPr>
          <p:cNvPr id="5" name="Text 3"/>
          <p:cNvSpPr/>
          <p:nvPr/>
        </p:nvSpPr>
        <p:spPr>
          <a:xfrm>
            <a:off x="1071880" y="2379980"/>
            <a:ext cx="22254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Park H</a:t>
            </a:r>
            <a:endParaRPr lang="en-US" sz="2000" dirty="0"/>
          </a:p>
        </p:txBody>
      </p:sp>
      <p:sp>
        <p:nvSpPr>
          <p:cNvPr id="6" name="Text 4"/>
          <p:cNvSpPr/>
          <p:nvPr/>
        </p:nvSpPr>
        <p:spPr>
          <a:xfrm>
            <a:off x="1071880" y="2760980"/>
            <a:ext cx="22254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5 turbines</a:t>
            </a:r>
            <a:endParaRPr lang="en-US" sz="1400" dirty="0"/>
          </a:p>
        </p:txBody>
      </p:sp>
      <p:sp>
        <p:nvSpPr>
          <p:cNvPr id="7" name="Text 5"/>
          <p:cNvSpPr/>
          <p:nvPr/>
        </p:nvSpPr>
        <p:spPr>
          <a:xfrm>
            <a:off x="1071880" y="3086100"/>
            <a:ext cx="22254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3A"/>
                </a:solidFill>
                <a:latin typeface="Arial" pitchFamily="34" charset="0"/>
                <a:ea typeface="Arial" pitchFamily="34" charset="-122"/>
                <a:cs typeface="Arial" pitchFamily="34" charset="-120"/>
              </a:rPr>
              <a:t>Wind measured</a:t>
            </a:r>
            <a:endParaRPr lang="en-US" sz="1400" dirty="0"/>
          </a:p>
        </p:txBody>
      </p:sp>
      <p:pic>
        <p:nvPicPr>
          <p:cNvPr id="8" name="Image 0" descr="arrow-right">    </p:cNvPr>
          <p:cNvPicPr>
            <a:picLocks noChangeAspect="1"/>
          </p:cNvPicPr>
          <p:nvPr/>
        </p:nvPicPr>
        <p:blipFill>
          <a:blip r:embed="rId1"/>
          <a:srcRect l="0" r="0" t="0" b="0"/>
          <a:stretch/>
        </p:blipFill>
        <p:spPr>
          <a:xfrm>
            <a:off x="3745627" y="2667000"/>
            <a:ext cx="762000" cy="381000"/>
          </a:xfrm>
          <a:prstGeom prst="rect">
            <a:avLst/>
          </a:prstGeom>
        </p:spPr>
      </p:pic>
      <p:sp>
        <p:nvSpPr>
          <p:cNvPr id="9" name="Shape 6"/>
          <p:cNvSpPr/>
          <p:nvPr/>
        </p:nvSpPr>
        <p:spPr>
          <a:xfrm>
            <a:off x="4761627" y="2001520"/>
            <a:ext cx="2668746" cy="1711960"/>
          </a:xfrm>
          <a:prstGeom prst="roundRect">
            <a:avLst>
              <a:gd name="adj" fmla="val 8902"/>
            </a:avLst>
          </a:prstGeom>
          <a:solidFill>
            <a:srgbClr val="FAD804"/>
          </a:solidFill>
          <a:ln/>
        </p:spPr>
      </p:sp>
      <p:sp>
        <p:nvSpPr>
          <p:cNvPr id="10" name="Text 7"/>
          <p:cNvSpPr/>
          <p:nvPr/>
        </p:nvSpPr>
        <p:spPr>
          <a:xfrm>
            <a:off x="5015627" y="2255520"/>
            <a:ext cx="222556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Park T</a:t>
            </a:r>
            <a:endParaRPr lang="en-US" sz="2000" dirty="0"/>
          </a:p>
        </p:txBody>
      </p:sp>
      <p:sp>
        <p:nvSpPr>
          <p:cNvPr id="11" name="Text 8"/>
          <p:cNvSpPr/>
          <p:nvPr/>
        </p:nvSpPr>
        <p:spPr>
          <a:xfrm>
            <a:off x="5015627" y="2636520"/>
            <a:ext cx="22255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3 turbines</a:t>
            </a:r>
            <a:endParaRPr lang="en-US" sz="1400" dirty="0"/>
          </a:p>
        </p:txBody>
      </p:sp>
      <p:sp>
        <p:nvSpPr>
          <p:cNvPr id="12" name="Text 9"/>
          <p:cNvSpPr/>
          <p:nvPr/>
        </p:nvSpPr>
        <p:spPr>
          <a:xfrm>
            <a:off x="5015627" y="2961640"/>
            <a:ext cx="2225569"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1E"/>
                </a:solidFill>
                <a:latin typeface="Arial" pitchFamily="34" charset="0"/>
                <a:ea typeface="Arial" pitchFamily="34" charset="-122"/>
                <a:cs typeface="Arial" pitchFamily="34" charset="-120"/>
              </a:rPr>
              <a:t>Wind unknown during the outage</a:t>
            </a:r>
            <a:endParaRPr lang="en-US" sz="1400" dirty="0"/>
          </a:p>
        </p:txBody>
      </p:sp>
      <p:pic>
        <p:nvPicPr>
          <p:cNvPr id="13" name="Image 1" descr="arrow-left">    </p:cNvPr>
          <p:cNvPicPr>
            <a:picLocks noChangeAspect="1"/>
          </p:cNvPicPr>
          <p:nvPr/>
        </p:nvPicPr>
        <p:blipFill>
          <a:blip r:embed="rId2"/>
          <a:srcRect l="0" r="0" t="0" b="0"/>
          <a:stretch/>
        </p:blipFill>
        <p:spPr>
          <a:xfrm>
            <a:off x="7684374" y="2667000"/>
            <a:ext cx="762000" cy="381000"/>
          </a:xfrm>
          <a:prstGeom prst="rect">
            <a:avLst/>
          </a:prstGeom>
        </p:spPr>
      </p:pic>
      <p:sp>
        <p:nvSpPr>
          <p:cNvPr id="14" name="Shape 10"/>
          <p:cNvSpPr/>
          <p:nvPr/>
        </p:nvSpPr>
        <p:spPr>
          <a:xfrm>
            <a:off x="8703549" y="2124075"/>
            <a:ext cx="2672477" cy="1466850"/>
          </a:xfrm>
          <a:prstGeom prst="roundRect">
            <a:avLst>
              <a:gd name="adj" fmla="val 10173"/>
            </a:avLst>
          </a:prstGeom>
          <a:solidFill>
            <a:srgbClr val="FCFDFB"/>
          </a:solidFill>
          <a:ln w="6350">
            <a:solidFill>
              <a:srgbClr val="D5DED8"/>
            </a:solidFill>
            <a:prstDash val="solid"/>
          </a:ln>
        </p:spPr>
      </p:sp>
      <p:sp>
        <p:nvSpPr>
          <p:cNvPr id="15" name="Text 11"/>
          <p:cNvSpPr/>
          <p:nvPr/>
        </p:nvSpPr>
        <p:spPr>
          <a:xfrm>
            <a:off x="8959453" y="2379980"/>
            <a:ext cx="22254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Park O</a:t>
            </a:r>
            <a:endParaRPr lang="en-US" sz="2000" dirty="0"/>
          </a:p>
        </p:txBody>
      </p:sp>
      <p:sp>
        <p:nvSpPr>
          <p:cNvPr id="16" name="Text 12"/>
          <p:cNvSpPr/>
          <p:nvPr/>
        </p:nvSpPr>
        <p:spPr>
          <a:xfrm>
            <a:off x="8959453" y="2760980"/>
            <a:ext cx="222548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2 turbines</a:t>
            </a:r>
            <a:endParaRPr lang="en-US" sz="1400" dirty="0"/>
          </a:p>
        </p:txBody>
      </p:sp>
      <p:sp>
        <p:nvSpPr>
          <p:cNvPr id="17" name="Text 13"/>
          <p:cNvSpPr/>
          <p:nvPr/>
        </p:nvSpPr>
        <p:spPr>
          <a:xfrm>
            <a:off x="8959453" y="3086100"/>
            <a:ext cx="222548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6B3A"/>
                </a:solidFill>
                <a:latin typeface="Arial" pitchFamily="34" charset="0"/>
                <a:ea typeface="Arial" pitchFamily="34" charset="-122"/>
                <a:cs typeface="Arial" pitchFamily="34" charset="-120"/>
              </a:rPr>
              <a:t>Wind measured</a:t>
            </a:r>
            <a:endParaRPr lang="en-US" sz="1400" dirty="0"/>
          </a:p>
        </p:txBody>
      </p:sp>
      <p:sp>
        <p:nvSpPr>
          <p:cNvPr id="18" name="Text 14"/>
          <p:cNvSpPr/>
          <p:nvPr/>
        </p:nvSpPr>
        <p:spPr>
          <a:xfrm>
            <a:off x="812800" y="3967480"/>
            <a:ext cx="98107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14261E"/>
                </a:solidFill>
                <a:latin typeface="Arial" pitchFamily="34" charset="0"/>
                <a:ea typeface="Arial" pitchFamily="34" charset="-122"/>
                <a:cs typeface="Arial" pitchFamily="34" charset="-120"/>
              </a:rPr>
              <a:t>The insurer asks: </a:t>
            </a:r>
            <a:r>
              <a:rPr lang="en-US" sz="2000" b="1" dirty="0">
                <a:solidFill>
                  <a:srgbClr val="14261E"/>
                </a:solidFill>
                <a:latin typeface="Arial" pitchFamily="34" charset="0"/>
                <a:ea typeface="Arial" pitchFamily="34" charset="-122"/>
                <a:cs typeface="Arial" pitchFamily="34" charset="-120"/>
              </a:rPr>
              <a:t>how many kWh did the outage cost?</a:t>
            </a:r>
            <a:r>
              <a:rPr lang="en-US" sz="2000" dirty="0">
                <a:solidFill>
                  <a:srgbClr val="14261E"/>
                </a:solidFill>
                <a:latin typeface="Arial" pitchFamily="34" charset="0"/>
                <a:ea typeface="Arial" pitchFamily="34" charset="-122"/>
                <a:cs typeface="Arial" pitchFamily="34" charset="-120"/>
              </a:rPr>
              <a:t> We rebuild T’s wind from H and O, convert it to power and add it up.</a:t>
            </a:r>
            <a:endParaRPr lang="en-US" sz="2000" dirty="0"/>
          </a:p>
        </p:txBody>
      </p:sp>
      <p:sp>
        <p:nvSpPr>
          <p:cNvPr id="19" name="Text 15"/>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Judged outage: 1–3 Sep 2026, 432 ten-minute steps · 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OUR MODEL</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One transparent formula per turbine</a:t>
            </a:r>
            <a:endParaRPr lang="en-US" sz="3200" dirty="0"/>
          </a:p>
        </p:txBody>
      </p:sp>
      <p:sp>
        <p:nvSpPr>
          <p:cNvPr id="4" name="Shape 2"/>
          <p:cNvSpPr/>
          <p:nvPr/>
        </p:nvSpPr>
        <p:spPr>
          <a:xfrm>
            <a:off x="812800" y="2001520"/>
            <a:ext cx="10566400" cy="1630680"/>
          </a:xfrm>
          <a:prstGeom prst="roundRect">
            <a:avLst>
              <a:gd name="adj" fmla="val 9346"/>
            </a:avLst>
          </a:prstGeom>
          <a:solidFill>
            <a:srgbClr val="0B3D2C"/>
          </a:solidFill>
          <a:ln/>
        </p:spPr>
      </p:sp>
      <p:sp>
        <p:nvSpPr>
          <p:cNvPr id="5" name="Text 3"/>
          <p:cNvSpPr/>
          <p:nvPr/>
        </p:nvSpPr>
        <p:spPr>
          <a:xfrm>
            <a:off x="1117600" y="2306320"/>
            <a:ext cx="1025550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7F2"/>
                </a:solidFill>
                <a:latin typeface="Arial" pitchFamily="34" charset="0"/>
                <a:ea typeface="Arial" pitchFamily="34" charset="-122"/>
                <a:cs typeface="Arial" pitchFamily="34" charset="-120"/>
              </a:rPr>
              <a:t>T = a + b · H + c · O</a:t>
            </a:r>
            <a:endParaRPr lang="en-US" sz="4800" dirty="0"/>
          </a:p>
        </p:txBody>
      </p:sp>
      <p:sp>
        <p:nvSpPr>
          <p:cNvPr id="6" name="Text 4"/>
          <p:cNvSpPr/>
          <p:nvPr/>
        </p:nvSpPr>
        <p:spPr>
          <a:xfrm>
            <a:off x="1117600" y="3078480"/>
            <a:ext cx="102555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D8CB"/>
                </a:solidFill>
                <a:latin typeface="Arial" pitchFamily="34" charset="0"/>
                <a:ea typeface="Arial" pitchFamily="34" charset="-122"/>
                <a:cs typeface="Arial" pitchFamily="34" charset="-120"/>
              </a:rPr>
              <a:t>H, O = 1-hour average wind of each neighbouring park · a, b, c fitted on all data outside the outage</a:t>
            </a:r>
            <a:endParaRPr lang="en-US" sz="1400" dirty="0"/>
          </a:p>
        </p:txBody>
      </p:sp>
      <p:sp>
        <p:nvSpPr>
          <p:cNvPr id="7" name="Shape 5"/>
          <p:cNvSpPr/>
          <p:nvPr/>
        </p:nvSpPr>
        <p:spPr>
          <a:xfrm>
            <a:off x="815975" y="3889375"/>
            <a:ext cx="3346450" cy="1639570"/>
          </a:xfrm>
          <a:prstGeom prst="roundRect">
            <a:avLst>
              <a:gd name="adj" fmla="val 9101"/>
            </a:avLst>
          </a:prstGeom>
          <a:solidFill>
            <a:srgbClr val="FCFDFB"/>
          </a:solidFill>
          <a:ln w="6350">
            <a:solidFill>
              <a:srgbClr val="D5DED8"/>
            </a:solidFill>
            <a:prstDash val="solid"/>
          </a:ln>
        </p:spPr>
      </p:sp>
      <p:sp>
        <p:nvSpPr>
          <p:cNvPr id="8" name="Text 6"/>
          <p:cNvSpPr/>
          <p:nvPr/>
        </p:nvSpPr>
        <p:spPr>
          <a:xfrm>
            <a:off x="1071880" y="4145280"/>
            <a:ext cx="29196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1-hour averages</a:t>
            </a:r>
            <a:endParaRPr lang="en-US" sz="2000" dirty="0"/>
          </a:p>
        </p:txBody>
      </p:sp>
      <p:sp>
        <p:nvSpPr>
          <p:cNvPr id="9" name="Text 7"/>
          <p:cNvSpPr/>
          <p:nvPr/>
        </p:nvSpPr>
        <p:spPr>
          <a:xfrm>
            <a:off x="1071880" y="4526280"/>
            <a:ext cx="291967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Gusts at the neighbours are noise; trends carry over (agreement 0.80 → 0.89)</a:t>
            </a:r>
            <a:endParaRPr lang="en-US" sz="1400" dirty="0"/>
          </a:p>
        </p:txBody>
      </p:sp>
      <p:sp>
        <p:nvSpPr>
          <p:cNvPr id="10" name="Shape 8"/>
          <p:cNvSpPr/>
          <p:nvPr/>
        </p:nvSpPr>
        <p:spPr>
          <a:xfrm>
            <a:off x="4422775" y="3889375"/>
            <a:ext cx="3346450" cy="1639570"/>
          </a:xfrm>
          <a:prstGeom prst="roundRect">
            <a:avLst>
              <a:gd name="adj" fmla="val 9101"/>
            </a:avLst>
          </a:prstGeom>
          <a:solidFill>
            <a:srgbClr val="FCFDFB"/>
          </a:solidFill>
          <a:ln w="6350">
            <a:solidFill>
              <a:srgbClr val="D5DED8"/>
            </a:solidFill>
            <a:prstDash val="solid"/>
          </a:ln>
        </p:spPr>
      </p:sp>
      <p:sp>
        <p:nvSpPr>
          <p:cNvPr id="11" name="Text 9"/>
          <p:cNvSpPr/>
          <p:nvPr/>
        </p:nvSpPr>
        <p:spPr>
          <a:xfrm>
            <a:off x="4678680" y="4145280"/>
            <a:ext cx="29196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8 wind directions</a:t>
            </a:r>
            <a:endParaRPr lang="en-US" sz="2000" dirty="0"/>
          </a:p>
        </p:txBody>
      </p:sp>
      <p:sp>
        <p:nvSpPr>
          <p:cNvPr id="12" name="Text 10"/>
          <p:cNvSpPr/>
          <p:nvPr/>
        </p:nvSpPr>
        <p:spPr>
          <a:xfrm>
            <a:off x="4678680" y="4526280"/>
            <a:ext cx="291967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a and b change with direction: T gets 84–93 % of H’s wind</a:t>
            </a:r>
            <a:endParaRPr lang="en-US" sz="1400" dirty="0"/>
          </a:p>
        </p:txBody>
      </p:sp>
      <p:sp>
        <p:nvSpPr>
          <p:cNvPr id="13" name="Shape 11"/>
          <p:cNvSpPr/>
          <p:nvPr/>
        </p:nvSpPr>
        <p:spPr>
          <a:xfrm>
            <a:off x="8029575" y="3889375"/>
            <a:ext cx="3346450" cy="1639570"/>
          </a:xfrm>
          <a:prstGeom prst="roundRect">
            <a:avLst>
              <a:gd name="adj" fmla="val 9101"/>
            </a:avLst>
          </a:prstGeom>
          <a:solidFill>
            <a:srgbClr val="FCFDFB"/>
          </a:solidFill>
          <a:ln w="6350">
            <a:solidFill>
              <a:srgbClr val="D5DED8"/>
            </a:solidFill>
            <a:prstDash val="solid"/>
          </a:ln>
        </p:spPr>
      </p:sp>
      <p:sp>
        <p:nvSpPr>
          <p:cNvPr id="14" name="Text 12"/>
          <p:cNvSpPr/>
          <p:nvPr/>
        </p:nvSpPr>
        <p:spPr>
          <a:xfrm>
            <a:off x="8285480" y="4145280"/>
            <a:ext cx="29196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61E"/>
                </a:solidFill>
                <a:latin typeface="Arial" pitchFamily="34" charset="0"/>
                <a:ea typeface="Arial" pitchFamily="34" charset="-122"/>
                <a:cs typeface="Arial" pitchFamily="34" charset="-120"/>
              </a:rPr>
              <a:t>No black box</a:t>
            </a:r>
            <a:endParaRPr lang="en-US" sz="2000" dirty="0"/>
          </a:p>
        </p:txBody>
      </p:sp>
      <p:sp>
        <p:nvSpPr>
          <p:cNvPr id="15" name="Text 13"/>
          <p:cNvSpPr/>
          <p:nvPr/>
        </p:nvSpPr>
        <p:spPr>
          <a:xfrm>
            <a:off x="8285480" y="4526280"/>
            <a:ext cx="291967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Every coefficient can be printed and checked by the insurer</a:t>
            </a:r>
            <a:endParaRPr lang="en-US" sz="1400" dirty="0"/>
          </a:p>
        </p:txBody>
      </p:sp>
      <p:sp>
        <p:nvSpPr>
          <p:cNvPr id="16" name="Text 14"/>
          <p:cNvSpPr/>
          <p:nvPr/>
        </p:nvSpPr>
        <p:spPr>
          <a:xfrm>
            <a:off x="812800" y="623824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INSIGHT 1</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Tested on 28 simulated outages, not one lucky week</a:t>
            </a:r>
            <a:endParaRPr lang="en-US" sz="3200" dirty="0"/>
          </a:p>
        </p:txBody>
      </p:sp>
      <p:sp>
        <p:nvSpPr>
          <p:cNvPr id="4" name="Shape 2"/>
          <p:cNvSpPr/>
          <p:nvPr/>
        </p:nvSpPr>
        <p:spPr>
          <a:xfrm>
            <a:off x="812800" y="2001520"/>
            <a:ext cx="303054" cy="457200"/>
          </a:xfrm>
          <a:prstGeom prst="roundRect">
            <a:avLst>
              <a:gd name="adj" fmla="val 16763"/>
            </a:avLst>
          </a:prstGeom>
          <a:solidFill>
            <a:srgbClr val="0B6B3A"/>
          </a:solidFill>
          <a:ln/>
        </p:spPr>
      </p:sp>
      <p:sp>
        <p:nvSpPr>
          <p:cNvPr id="5" name="Shape 3"/>
          <p:cNvSpPr/>
          <p:nvPr/>
        </p:nvSpPr>
        <p:spPr>
          <a:xfrm>
            <a:off x="1166654" y="2001520"/>
            <a:ext cx="303133" cy="457200"/>
          </a:xfrm>
          <a:prstGeom prst="roundRect">
            <a:avLst>
              <a:gd name="adj" fmla="val 16758"/>
            </a:avLst>
          </a:prstGeom>
          <a:solidFill>
            <a:srgbClr val="0B6B3A"/>
          </a:solidFill>
          <a:ln/>
        </p:spPr>
      </p:sp>
      <p:sp>
        <p:nvSpPr>
          <p:cNvPr id="6" name="Shape 4"/>
          <p:cNvSpPr/>
          <p:nvPr/>
        </p:nvSpPr>
        <p:spPr>
          <a:xfrm>
            <a:off x="1520587" y="2001520"/>
            <a:ext cx="303054" cy="457200"/>
          </a:xfrm>
          <a:prstGeom prst="roundRect">
            <a:avLst>
              <a:gd name="adj" fmla="val 16763"/>
            </a:avLst>
          </a:prstGeom>
          <a:solidFill>
            <a:srgbClr val="0B6B3A"/>
          </a:solidFill>
          <a:ln/>
        </p:spPr>
      </p:sp>
      <p:sp>
        <p:nvSpPr>
          <p:cNvPr id="7" name="Shape 5"/>
          <p:cNvSpPr/>
          <p:nvPr/>
        </p:nvSpPr>
        <p:spPr>
          <a:xfrm>
            <a:off x="1874441" y="2001520"/>
            <a:ext cx="303133" cy="457200"/>
          </a:xfrm>
          <a:prstGeom prst="roundRect">
            <a:avLst>
              <a:gd name="adj" fmla="val 16758"/>
            </a:avLst>
          </a:prstGeom>
          <a:solidFill>
            <a:srgbClr val="0B6B3A"/>
          </a:solidFill>
          <a:ln/>
        </p:spPr>
      </p:sp>
      <p:sp>
        <p:nvSpPr>
          <p:cNvPr id="8" name="Shape 6"/>
          <p:cNvSpPr/>
          <p:nvPr/>
        </p:nvSpPr>
        <p:spPr>
          <a:xfrm>
            <a:off x="2228374" y="2001520"/>
            <a:ext cx="303054" cy="457200"/>
          </a:xfrm>
          <a:prstGeom prst="roundRect">
            <a:avLst>
              <a:gd name="adj" fmla="val 16763"/>
            </a:avLst>
          </a:prstGeom>
          <a:solidFill>
            <a:srgbClr val="0B6B3A"/>
          </a:solidFill>
          <a:ln/>
        </p:spPr>
      </p:sp>
      <p:sp>
        <p:nvSpPr>
          <p:cNvPr id="9" name="Shape 7"/>
          <p:cNvSpPr/>
          <p:nvPr/>
        </p:nvSpPr>
        <p:spPr>
          <a:xfrm>
            <a:off x="2582227" y="2001520"/>
            <a:ext cx="303133" cy="457200"/>
          </a:xfrm>
          <a:prstGeom prst="roundRect">
            <a:avLst>
              <a:gd name="adj" fmla="val 16758"/>
            </a:avLst>
          </a:prstGeom>
          <a:solidFill>
            <a:srgbClr val="0B6B3A"/>
          </a:solidFill>
          <a:ln/>
        </p:spPr>
      </p:sp>
      <p:sp>
        <p:nvSpPr>
          <p:cNvPr id="10" name="Shape 8"/>
          <p:cNvSpPr/>
          <p:nvPr/>
        </p:nvSpPr>
        <p:spPr>
          <a:xfrm>
            <a:off x="2936161" y="2001520"/>
            <a:ext cx="303054" cy="457200"/>
          </a:xfrm>
          <a:prstGeom prst="roundRect">
            <a:avLst>
              <a:gd name="adj" fmla="val 16763"/>
            </a:avLst>
          </a:prstGeom>
          <a:solidFill>
            <a:srgbClr val="0B6B3A"/>
          </a:solidFill>
          <a:ln/>
        </p:spPr>
      </p:sp>
      <p:sp>
        <p:nvSpPr>
          <p:cNvPr id="11" name="Shape 9"/>
          <p:cNvSpPr/>
          <p:nvPr/>
        </p:nvSpPr>
        <p:spPr>
          <a:xfrm>
            <a:off x="3290014" y="2001520"/>
            <a:ext cx="303133" cy="457200"/>
          </a:xfrm>
          <a:prstGeom prst="roundRect">
            <a:avLst>
              <a:gd name="adj" fmla="val 16758"/>
            </a:avLst>
          </a:prstGeom>
          <a:solidFill>
            <a:srgbClr val="0B6B3A"/>
          </a:solidFill>
          <a:ln/>
        </p:spPr>
      </p:sp>
      <p:sp>
        <p:nvSpPr>
          <p:cNvPr id="12" name="Shape 10"/>
          <p:cNvSpPr/>
          <p:nvPr/>
        </p:nvSpPr>
        <p:spPr>
          <a:xfrm>
            <a:off x="3643948" y="2001520"/>
            <a:ext cx="303054" cy="457200"/>
          </a:xfrm>
          <a:prstGeom prst="roundRect">
            <a:avLst>
              <a:gd name="adj" fmla="val 16763"/>
            </a:avLst>
          </a:prstGeom>
          <a:solidFill>
            <a:srgbClr val="0B6B3A"/>
          </a:solidFill>
          <a:ln/>
        </p:spPr>
      </p:sp>
      <p:sp>
        <p:nvSpPr>
          <p:cNvPr id="13" name="Shape 11"/>
          <p:cNvSpPr/>
          <p:nvPr/>
        </p:nvSpPr>
        <p:spPr>
          <a:xfrm>
            <a:off x="3997801" y="2001520"/>
            <a:ext cx="303133" cy="457200"/>
          </a:xfrm>
          <a:prstGeom prst="roundRect">
            <a:avLst>
              <a:gd name="adj" fmla="val 16758"/>
            </a:avLst>
          </a:prstGeom>
          <a:solidFill>
            <a:srgbClr val="0B6B3A"/>
          </a:solidFill>
          <a:ln/>
        </p:spPr>
      </p:sp>
      <p:sp>
        <p:nvSpPr>
          <p:cNvPr id="14" name="Shape 12"/>
          <p:cNvSpPr/>
          <p:nvPr/>
        </p:nvSpPr>
        <p:spPr>
          <a:xfrm>
            <a:off x="4351734" y="2001520"/>
            <a:ext cx="303054" cy="457200"/>
          </a:xfrm>
          <a:prstGeom prst="roundRect">
            <a:avLst>
              <a:gd name="adj" fmla="val 16763"/>
            </a:avLst>
          </a:prstGeom>
          <a:solidFill>
            <a:srgbClr val="C9D3CD"/>
          </a:solidFill>
          <a:ln/>
        </p:spPr>
      </p:sp>
      <p:sp>
        <p:nvSpPr>
          <p:cNvPr id="15" name="Shape 13"/>
          <p:cNvSpPr/>
          <p:nvPr/>
        </p:nvSpPr>
        <p:spPr>
          <a:xfrm>
            <a:off x="4705588" y="2001520"/>
            <a:ext cx="303133" cy="457200"/>
          </a:xfrm>
          <a:prstGeom prst="roundRect">
            <a:avLst>
              <a:gd name="adj" fmla="val 16758"/>
            </a:avLst>
          </a:prstGeom>
          <a:solidFill>
            <a:srgbClr val="0B6B3A"/>
          </a:solidFill>
          <a:ln/>
        </p:spPr>
      </p:sp>
      <p:sp>
        <p:nvSpPr>
          <p:cNvPr id="16" name="Shape 14"/>
          <p:cNvSpPr/>
          <p:nvPr/>
        </p:nvSpPr>
        <p:spPr>
          <a:xfrm>
            <a:off x="5059521" y="2001520"/>
            <a:ext cx="303054" cy="457200"/>
          </a:xfrm>
          <a:prstGeom prst="roundRect">
            <a:avLst>
              <a:gd name="adj" fmla="val 16763"/>
            </a:avLst>
          </a:prstGeom>
          <a:solidFill>
            <a:srgbClr val="0B6B3A"/>
          </a:solidFill>
          <a:ln/>
        </p:spPr>
      </p:sp>
      <p:sp>
        <p:nvSpPr>
          <p:cNvPr id="17" name="Shape 15"/>
          <p:cNvSpPr/>
          <p:nvPr/>
        </p:nvSpPr>
        <p:spPr>
          <a:xfrm>
            <a:off x="5413375" y="2001520"/>
            <a:ext cx="303133" cy="457200"/>
          </a:xfrm>
          <a:prstGeom prst="roundRect">
            <a:avLst>
              <a:gd name="adj" fmla="val 16758"/>
            </a:avLst>
          </a:prstGeom>
          <a:solidFill>
            <a:srgbClr val="0B6B3A"/>
          </a:solidFill>
          <a:ln/>
        </p:spPr>
      </p:sp>
      <p:sp>
        <p:nvSpPr>
          <p:cNvPr id="18" name="Shape 16"/>
          <p:cNvSpPr/>
          <p:nvPr/>
        </p:nvSpPr>
        <p:spPr>
          <a:xfrm>
            <a:off x="5767308" y="2001520"/>
            <a:ext cx="303054" cy="457200"/>
          </a:xfrm>
          <a:prstGeom prst="roundRect">
            <a:avLst>
              <a:gd name="adj" fmla="val 16763"/>
            </a:avLst>
          </a:prstGeom>
          <a:solidFill>
            <a:srgbClr val="0B6B3A"/>
          </a:solidFill>
          <a:ln/>
        </p:spPr>
      </p:sp>
      <p:sp>
        <p:nvSpPr>
          <p:cNvPr id="19" name="Shape 17"/>
          <p:cNvSpPr/>
          <p:nvPr/>
        </p:nvSpPr>
        <p:spPr>
          <a:xfrm>
            <a:off x="6121162" y="2001520"/>
            <a:ext cx="303133" cy="457200"/>
          </a:xfrm>
          <a:prstGeom prst="roundRect">
            <a:avLst>
              <a:gd name="adj" fmla="val 16758"/>
            </a:avLst>
          </a:prstGeom>
          <a:solidFill>
            <a:srgbClr val="0B6B3A"/>
          </a:solidFill>
          <a:ln/>
        </p:spPr>
      </p:sp>
      <p:sp>
        <p:nvSpPr>
          <p:cNvPr id="20" name="Shape 18"/>
          <p:cNvSpPr/>
          <p:nvPr/>
        </p:nvSpPr>
        <p:spPr>
          <a:xfrm>
            <a:off x="6475095" y="2001520"/>
            <a:ext cx="303054" cy="457200"/>
          </a:xfrm>
          <a:prstGeom prst="roundRect">
            <a:avLst>
              <a:gd name="adj" fmla="val 16763"/>
            </a:avLst>
          </a:prstGeom>
          <a:solidFill>
            <a:srgbClr val="0B6B3A"/>
          </a:solidFill>
          <a:ln/>
        </p:spPr>
      </p:sp>
      <p:sp>
        <p:nvSpPr>
          <p:cNvPr id="21" name="Shape 19"/>
          <p:cNvSpPr/>
          <p:nvPr/>
        </p:nvSpPr>
        <p:spPr>
          <a:xfrm>
            <a:off x="6828949" y="2001520"/>
            <a:ext cx="303133" cy="457200"/>
          </a:xfrm>
          <a:prstGeom prst="roundRect">
            <a:avLst>
              <a:gd name="adj" fmla="val 16758"/>
            </a:avLst>
          </a:prstGeom>
          <a:solidFill>
            <a:srgbClr val="0B6B3A"/>
          </a:solidFill>
          <a:ln/>
        </p:spPr>
      </p:sp>
      <p:sp>
        <p:nvSpPr>
          <p:cNvPr id="22" name="Shape 20"/>
          <p:cNvSpPr/>
          <p:nvPr/>
        </p:nvSpPr>
        <p:spPr>
          <a:xfrm>
            <a:off x="7182882" y="2001520"/>
            <a:ext cx="303054" cy="457200"/>
          </a:xfrm>
          <a:prstGeom prst="roundRect">
            <a:avLst>
              <a:gd name="adj" fmla="val 16763"/>
            </a:avLst>
          </a:prstGeom>
          <a:solidFill>
            <a:srgbClr val="0B6B3A"/>
          </a:solidFill>
          <a:ln/>
        </p:spPr>
      </p:sp>
      <p:sp>
        <p:nvSpPr>
          <p:cNvPr id="23" name="Shape 21"/>
          <p:cNvSpPr/>
          <p:nvPr/>
        </p:nvSpPr>
        <p:spPr>
          <a:xfrm>
            <a:off x="7536736" y="2001520"/>
            <a:ext cx="303133" cy="457200"/>
          </a:xfrm>
          <a:prstGeom prst="roundRect">
            <a:avLst>
              <a:gd name="adj" fmla="val 16758"/>
            </a:avLst>
          </a:prstGeom>
          <a:solidFill>
            <a:srgbClr val="0B6B3A"/>
          </a:solidFill>
          <a:ln/>
        </p:spPr>
      </p:sp>
      <p:sp>
        <p:nvSpPr>
          <p:cNvPr id="24" name="Shape 22"/>
          <p:cNvSpPr/>
          <p:nvPr/>
        </p:nvSpPr>
        <p:spPr>
          <a:xfrm>
            <a:off x="7890669" y="2001520"/>
            <a:ext cx="303133" cy="457200"/>
          </a:xfrm>
          <a:prstGeom prst="roundRect">
            <a:avLst>
              <a:gd name="adj" fmla="val 16758"/>
            </a:avLst>
          </a:prstGeom>
          <a:solidFill>
            <a:srgbClr val="FAD804"/>
          </a:solidFill>
          <a:ln/>
        </p:spPr>
      </p:sp>
      <p:sp>
        <p:nvSpPr>
          <p:cNvPr id="25" name="Shape 23"/>
          <p:cNvSpPr/>
          <p:nvPr/>
        </p:nvSpPr>
        <p:spPr>
          <a:xfrm>
            <a:off x="8244602" y="2001520"/>
            <a:ext cx="303133" cy="457200"/>
          </a:xfrm>
          <a:prstGeom prst="roundRect">
            <a:avLst>
              <a:gd name="adj" fmla="val 16758"/>
            </a:avLst>
          </a:prstGeom>
          <a:solidFill>
            <a:srgbClr val="0B6B3A"/>
          </a:solidFill>
          <a:ln/>
        </p:spPr>
      </p:sp>
      <p:sp>
        <p:nvSpPr>
          <p:cNvPr id="26" name="Shape 24"/>
          <p:cNvSpPr/>
          <p:nvPr/>
        </p:nvSpPr>
        <p:spPr>
          <a:xfrm>
            <a:off x="8598535" y="2001520"/>
            <a:ext cx="303133" cy="457200"/>
          </a:xfrm>
          <a:prstGeom prst="roundRect">
            <a:avLst>
              <a:gd name="adj" fmla="val 16758"/>
            </a:avLst>
          </a:prstGeom>
          <a:solidFill>
            <a:srgbClr val="0B6B3A"/>
          </a:solidFill>
          <a:ln/>
        </p:spPr>
      </p:sp>
      <p:sp>
        <p:nvSpPr>
          <p:cNvPr id="27" name="Shape 25"/>
          <p:cNvSpPr/>
          <p:nvPr/>
        </p:nvSpPr>
        <p:spPr>
          <a:xfrm>
            <a:off x="8952468" y="2001520"/>
            <a:ext cx="303133" cy="457200"/>
          </a:xfrm>
          <a:prstGeom prst="roundRect">
            <a:avLst>
              <a:gd name="adj" fmla="val 16758"/>
            </a:avLst>
          </a:prstGeom>
          <a:solidFill>
            <a:srgbClr val="0B6B3A"/>
          </a:solidFill>
          <a:ln/>
        </p:spPr>
      </p:sp>
      <p:sp>
        <p:nvSpPr>
          <p:cNvPr id="28" name="Shape 26"/>
          <p:cNvSpPr/>
          <p:nvPr/>
        </p:nvSpPr>
        <p:spPr>
          <a:xfrm>
            <a:off x="9306402" y="2001520"/>
            <a:ext cx="303133" cy="457200"/>
          </a:xfrm>
          <a:prstGeom prst="roundRect">
            <a:avLst>
              <a:gd name="adj" fmla="val 16758"/>
            </a:avLst>
          </a:prstGeom>
          <a:solidFill>
            <a:srgbClr val="0B6B3A"/>
          </a:solidFill>
          <a:ln/>
        </p:spPr>
      </p:sp>
      <p:sp>
        <p:nvSpPr>
          <p:cNvPr id="29" name="Shape 27"/>
          <p:cNvSpPr/>
          <p:nvPr/>
        </p:nvSpPr>
        <p:spPr>
          <a:xfrm>
            <a:off x="9660334" y="2001520"/>
            <a:ext cx="303133" cy="457200"/>
          </a:xfrm>
          <a:prstGeom prst="roundRect">
            <a:avLst>
              <a:gd name="adj" fmla="val 16758"/>
            </a:avLst>
          </a:prstGeom>
          <a:solidFill>
            <a:srgbClr val="0B6B3A"/>
          </a:solidFill>
          <a:ln/>
        </p:spPr>
      </p:sp>
      <p:sp>
        <p:nvSpPr>
          <p:cNvPr id="30" name="Shape 28"/>
          <p:cNvSpPr/>
          <p:nvPr/>
        </p:nvSpPr>
        <p:spPr>
          <a:xfrm>
            <a:off x="10014268" y="2001520"/>
            <a:ext cx="303133" cy="457200"/>
          </a:xfrm>
          <a:prstGeom prst="roundRect">
            <a:avLst>
              <a:gd name="adj" fmla="val 16758"/>
            </a:avLst>
          </a:prstGeom>
          <a:solidFill>
            <a:srgbClr val="0B6B3A"/>
          </a:solidFill>
          <a:ln/>
        </p:spPr>
      </p:sp>
      <p:sp>
        <p:nvSpPr>
          <p:cNvPr id="31" name="Shape 29"/>
          <p:cNvSpPr/>
          <p:nvPr/>
        </p:nvSpPr>
        <p:spPr>
          <a:xfrm>
            <a:off x="10368200" y="2001520"/>
            <a:ext cx="303133" cy="457200"/>
          </a:xfrm>
          <a:prstGeom prst="roundRect">
            <a:avLst>
              <a:gd name="adj" fmla="val 16758"/>
            </a:avLst>
          </a:prstGeom>
          <a:solidFill>
            <a:srgbClr val="0B6B3A"/>
          </a:solidFill>
          <a:ln/>
        </p:spPr>
      </p:sp>
      <p:sp>
        <p:nvSpPr>
          <p:cNvPr id="32" name="Shape 30"/>
          <p:cNvSpPr/>
          <p:nvPr/>
        </p:nvSpPr>
        <p:spPr>
          <a:xfrm>
            <a:off x="10722134" y="2001520"/>
            <a:ext cx="303133" cy="457200"/>
          </a:xfrm>
          <a:prstGeom prst="roundRect">
            <a:avLst>
              <a:gd name="adj" fmla="val 16758"/>
            </a:avLst>
          </a:prstGeom>
          <a:solidFill>
            <a:srgbClr val="0B6B3A"/>
          </a:solidFill>
          <a:ln/>
        </p:spPr>
      </p:sp>
      <p:sp>
        <p:nvSpPr>
          <p:cNvPr id="33" name="Shape 31"/>
          <p:cNvSpPr/>
          <p:nvPr/>
        </p:nvSpPr>
        <p:spPr>
          <a:xfrm>
            <a:off x="11076067" y="2001520"/>
            <a:ext cx="303133" cy="457200"/>
          </a:xfrm>
          <a:prstGeom prst="roundRect">
            <a:avLst>
              <a:gd name="adj" fmla="val 16758"/>
            </a:avLst>
          </a:prstGeom>
          <a:solidFill>
            <a:srgbClr val="0B6B3A"/>
          </a:solidFill>
          <a:ln/>
        </p:spPr>
      </p:sp>
      <p:sp>
        <p:nvSpPr>
          <p:cNvPr id="34" name="Text 32"/>
          <p:cNvSpPr/>
          <p:nvPr/>
        </p:nvSpPr>
        <p:spPr>
          <a:xfrm>
            <a:off x="812800" y="2534920"/>
            <a:ext cx="3252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July</a:t>
            </a:r>
            <a:endParaRPr lang="en-US" sz="1200" dirty="0"/>
          </a:p>
        </p:txBody>
      </p:sp>
      <p:sp>
        <p:nvSpPr>
          <p:cNvPr id="35" name="Text 33"/>
          <p:cNvSpPr/>
          <p:nvPr/>
        </p:nvSpPr>
        <p:spPr>
          <a:xfrm>
            <a:off x="5621576" y="2534920"/>
            <a:ext cx="569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August</a:t>
            </a:r>
            <a:endParaRPr lang="en-US" sz="1200" dirty="0"/>
          </a:p>
        </p:txBody>
      </p:sp>
      <p:sp>
        <p:nvSpPr>
          <p:cNvPr id="36" name="Text 34"/>
          <p:cNvSpPr/>
          <p:nvPr/>
        </p:nvSpPr>
        <p:spPr>
          <a:xfrm>
            <a:off x="10484612" y="2534920"/>
            <a:ext cx="89458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2"/>
                </a:solidFill>
                <a:latin typeface="Arial" pitchFamily="34" charset="0"/>
                <a:ea typeface="Arial" pitchFamily="34" charset="-122"/>
                <a:cs typeface="Arial" pitchFamily="34" charset="-120"/>
              </a:rPr>
              <a:t>September</a:t>
            </a:r>
            <a:endParaRPr lang="en-US" sz="1200" dirty="0"/>
          </a:p>
        </p:txBody>
      </p:sp>
      <p:sp>
        <p:nvSpPr>
          <p:cNvPr id="37" name="Shape 35"/>
          <p:cNvSpPr/>
          <p:nvPr/>
        </p:nvSpPr>
        <p:spPr>
          <a:xfrm>
            <a:off x="812800" y="2842261"/>
            <a:ext cx="177800" cy="177800"/>
          </a:xfrm>
          <a:prstGeom prst="roundRect">
            <a:avLst>
              <a:gd name="adj" fmla="val 21429"/>
            </a:avLst>
          </a:prstGeom>
          <a:solidFill>
            <a:srgbClr val="0B6B3A"/>
          </a:solidFill>
          <a:ln/>
        </p:spPr>
      </p:sp>
      <p:sp>
        <p:nvSpPr>
          <p:cNvPr id="38" name="Text 36"/>
          <p:cNvSpPr/>
          <p:nvPr/>
        </p:nvSpPr>
        <p:spPr>
          <a:xfrm>
            <a:off x="1066800" y="2824480"/>
            <a:ext cx="29650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61E"/>
                </a:solidFill>
                <a:latin typeface="Arial" pitchFamily="34" charset="0"/>
                <a:ea typeface="Arial" pitchFamily="34" charset="-122"/>
                <a:cs typeface="Arial" pitchFamily="34" charset="-120"/>
              </a:rPr>
              <a:t>simulated 3-day outage, predicted blind</a:t>
            </a:r>
            <a:endParaRPr lang="en-US" sz="1200" dirty="0"/>
          </a:p>
        </p:txBody>
      </p:sp>
      <p:sp>
        <p:nvSpPr>
          <p:cNvPr id="39" name="Shape 37"/>
          <p:cNvSpPr/>
          <p:nvPr/>
        </p:nvSpPr>
        <p:spPr>
          <a:xfrm>
            <a:off x="4031853" y="2842261"/>
            <a:ext cx="177800" cy="177800"/>
          </a:xfrm>
          <a:prstGeom prst="roundRect">
            <a:avLst>
              <a:gd name="adj" fmla="val 21429"/>
            </a:avLst>
          </a:prstGeom>
          <a:solidFill>
            <a:srgbClr val="FAD804"/>
          </a:solidFill>
          <a:ln/>
        </p:spPr>
      </p:sp>
      <p:sp>
        <p:nvSpPr>
          <p:cNvPr id="40" name="Text 38"/>
          <p:cNvSpPr/>
          <p:nvPr/>
        </p:nvSpPr>
        <p:spPr>
          <a:xfrm>
            <a:off x="4285853" y="2824480"/>
            <a:ext cx="19234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61E"/>
                </a:solidFill>
                <a:latin typeface="Arial" pitchFamily="34" charset="0"/>
                <a:ea typeface="Arial" pitchFamily="34" charset="-122"/>
                <a:cs typeface="Arial" pitchFamily="34" charset="-120"/>
              </a:rPr>
              <a:t>judged outage, 1–3 Sep</a:t>
            </a:r>
            <a:endParaRPr lang="en-US" sz="1200" dirty="0"/>
          </a:p>
        </p:txBody>
      </p:sp>
      <p:sp>
        <p:nvSpPr>
          <p:cNvPr id="41" name="Shape 39"/>
          <p:cNvSpPr/>
          <p:nvPr/>
        </p:nvSpPr>
        <p:spPr>
          <a:xfrm>
            <a:off x="6209268" y="2842261"/>
            <a:ext cx="177800" cy="177800"/>
          </a:xfrm>
          <a:prstGeom prst="roundRect">
            <a:avLst>
              <a:gd name="adj" fmla="val 21429"/>
            </a:avLst>
          </a:prstGeom>
          <a:solidFill>
            <a:srgbClr val="C9D3CD"/>
          </a:solidFill>
          <a:ln/>
        </p:spPr>
      </p:sp>
      <p:sp>
        <p:nvSpPr>
          <p:cNvPr id="42" name="Text 40"/>
          <p:cNvSpPr/>
          <p:nvPr/>
        </p:nvSpPr>
        <p:spPr>
          <a:xfrm>
            <a:off x="6463268" y="2824480"/>
            <a:ext cx="10370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61E"/>
                </a:solidFill>
                <a:latin typeface="Arial" pitchFamily="34" charset="0"/>
                <a:ea typeface="Arial" pitchFamily="34" charset="-122"/>
                <a:cs typeface="Arial" pitchFamily="34" charset="-120"/>
              </a:rPr>
              <a:t>too little data</a:t>
            </a:r>
            <a:endParaRPr lang="en-US" sz="1200" dirty="0"/>
          </a:p>
        </p:txBody>
      </p:sp>
      <p:sp>
        <p:nvSpPr>
          <p:cNvPr id="43" name="Shape 41"/>
          <p:cNvSpPr/>
          <p:nvPr/>
        </p:nvSpPr>
        <p:spPr>
          <a:xfrm>
            <a:off x="815975" y="3295016"/>
            <a:ext cx="5144770" cy="1939290"/>
          </a:xfrm>
          <a:prstGeom prst="roundRect">
            <a:avLst>
              <a:gd name="adj" fmla="val 7695"/>
            </a:avLst>
          </a:prstGeom>
          <a:solidFill>
            <a:srgbClr val="FCFDFB"/>
          </a:solidFill>
          <a:ln w="6350">
            <a:solidFill>
              <a:srgbClr val="D5DED8"/>
            </a:solidFill>
            <a:prstDash val="solid"/>
          </a:ln>
        </p:spPr>
      </p:sp>
      <p:sp>
        <p:nvSpPr>
          <p:cNvPr id="44" name="Text 42"/>
          <p:cNvSpPr/>
          <p:nvPr/>
        </p:nvSpPr>
        <p:spPr>
          <a:xfrm>
            <a:off x="1071880" y="3550920"/>
            <a:ext cx="47719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62"/>
                </a:solidFill>
                <a:latin typeface="Arial" pitchFamily="34" charset="0"/>
                <a:ea typeface="Arial" pitchFamily="34" charset="-122"/>
                <a:cs typeface="Arial" pitchFamily="34" charset="-120"/>
              </a:rPr>
              <a:t>Official validation week alone</a:t>
            </a:r>
            <a:endParaRPr lang="en-US" sz="1400" dirty="0"/>
          </a:p>
        </p:txBody>
      </p:sp>
      <p:sp>
        <p:nvSpPr>
          <p:cNvPr id="45" name="Text 43"/>
          <p:cNvSpPr/>
          <p:nvPr/>
        </p:nvSpPr>
        <p:spPr>
          <a:xfrm>
            <a:off x="1071880" y="3850641"/>
            <a:ext cx="4771949"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5A6B62"/>
                </a:solidFill>
                <a:latin typeface="Arial" pitchFamily="34" charset="0"/>
                <a:ea typeface="Arial" pitchFamily="34" charset="-122"/>
                <a:cs typeface="Arial" pitchFamily="34" charset="-120"/>
              </a:rPr>
              <a:t>+0.1 %</a:t>
            </a:r>
            <a:endParaRPr lang="en-US" sz="3200" dirty="0"/>
          </a:p>
        </p:txBody>
      </p:sp>
      <p:sp>
        <p:nvSpPr>
          <p:cNvPr id="46" name="Text 44"/>
          <p:cNvSpPr/>
          <p:nvPr/>
        </p:nvSpPr>
        <p:spPr>
          <a:xfrm>
            <a:off x="1071880" y="4470400"/>
            <a:ext cx="477194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Looked perfect, but only because T1 (+19 %) and T3 (−8 %) cancelled out</a:t>
            </a:r>
            <a:endParaRPr lang="en-US" sz="1400" dirty="0"/>
          </a:p>
        </p:txBody>
      </p:sp>
      <p:sp>
        <p:nvSpPr>
          <p:cNvPr id="47" name="Shape 45"/>
          <p:cNvSpPr/>
          <p:nvPr/>
        </p:nvSpPr>
        <p:spPr>
          <a:xfrm>
            <a:off x="6224270" y="3298191"/>
            <a:ext cx="5148580" cy="1932940"/>
          </a:xfrm>
          <a:prstGeom prst="roundRect">
            <a:avLst>
              <a:gd name="adj" fmla="val 7556"/>
            </a:avLst>
          </a:prstGeom>
          <a:solidFill>
            <a:srgbClr val="FCFDFB"/>
          </a:solidFill>
          <a:ln w="12700">
            <a:solidFill>
              <a:srgbClr val="0B6B3A"/>
            </a:solidFill>
            <a:prstDash val="solid"/>
          </a:ln>
        </p:spPr>
      </p:sp>
      <p:sp>
        <p:nvSpPr>
          <p:cNvPr id="48" name="Text 46"/>
          <p:cNvSpPr/>
          <p:nvPr/>
        </p:nvSpPr>
        <p:spPr>
          <a:xfrm>
            <a:off x="6482080" y="3556000"/>
            <a:ext cx="47719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62"/>
                </a:solidFill>
                <a:latin typeface="Arial" pitchFamily="34" charset="0"/>
                <a:ea typeface="Arial" pitchFamily="34" charset="-122"/>
                <a:cs typeface="Arial" pitchFamily="34" charset="-120"/>
              </a:rPr>
              <a:t>28 simulated outages, park energy error</a:t>
            </a:r>
            <a:endParaRPr lang="en-US" sz="1400" dirty="0"/>
          </a:p>
        </p:txBody>
      </p:sp>
      <p:sp>
        <p:nvSpPr>
          <p:cNvPr id="49" name="Text 47"/>
          <p:cNvSpPr/>
          <p:nvPr/>
        </p:nvSpPr>
        <p:spPr>
          <a:xfrm>
            <a:off x="6482080" y="3855720"/>
            <a:ext cx="4771949"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B6B3A"/>
                </a:solidFill>
                <a:latin typeface="Arial" pitchFamily="34" charset="0"/>
                <a:ea typeface="Arial" pitchFamily="34" charset="-122"/>
                <a:cs typeface="Arial" pitchFamily="34" charset="-120"/>
              </a:rPr>
              <a:t>11.0 % → 8.5 %</a:t>
            </a:r>
            <a:endParaRPr lang="en-US" sz="3200" dirty="0"/>
          </a:p>
        </p:txBody>
      </p:sp>
      <p:sp>
        <p:nvSpPr>
          <p:cNvPr id="50" name="Text 48"/>
          <p:cNvSpPr/>
          <p:nvPr/>
        </p:nvSpPr>
        <p:spPr>
          <a:xfrm>
            <a:off x="6482080" y="4475480"/>
            <a:ext cx="477194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1E"/>
                </a:solidFill>
                <a:latin typeface="Arial" pitchFamily="34" charset="0"/>
                <a:ea typeface="Arial" pitchFamily="34" charset="-122"/>
                <a:cs typeface="Arial" pitchFamily="34" charset="-120"/>
              </a:rPr>
              <a:t>Baseline → our model; confirmed on 83 outages starting every day</a:t>
            </a:r>
            <a:endParaRPr lang="en-US" sz="1400" dirty="0"/>
          </a:p>
        </p:txBody>
      </p:sp>
      <p:sp>
        <p:nvSpPr>
          <p:cNvPr id="51" name="Text 4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INSIGHT 2</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Average the power, not the wind</a:t>
            </a:r>
            <a:endParaRPr lang="en-US" sz="3200" dirty="0"/>
          </a:p>
        </p:txBody>
      </p:sp>
      <p:pic>
        <p:nvPicPr>
          <p:cNvPr id="4" name="Image 0" descr="Power curve of the turbine. Around a predicted wind of 6.5 m/s the plausible range is shaded; the average power over that range lies above the power at the best guess, because the curve bends upward.">    </p:cNvPr>
          <p:cNvPicPr>
            <a:picLocks noChangeAspect="1"/>
          </p:cNvPicPr>
          <p:nvPr/>
        </p:nvPicPr>
        <p:blipFill>
          <a:blip r:embed="rId1"/>
          <a:srcRect l="0" r="0" t="0" b="0"/>
          <a:stretch/>
        </p:blipFill>
        <p:spPr>
          <a:xfrm>
            <a:off x="812800" y="2001521"/>
            <a:ext cx="5715000" cy="3556000"/>
          </a:xfrm>
          <a:prstGeom prst="rect">
            <a:avLst/>
          </a:prstGeom>
        </p:spPr>
      </p:pic>
      <p:sp>
        <p:nvSpPr>
          <p:cNvPr id="5" name="Text 2"/>
          <p:cNvSpPr/>
          <p:nvPr/>
        </p:nvSpPr>
        <p:spPr>
          <a:xfrm>
            <a:off x="1168400" y="2001521"/>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4,500 kW full power</a:t>
            </a:r>
            <a:endParaRPr lang="en-US" sz="1200" dirty="0"/>
          </a:p>
        </p:txBody>
      </p:sp>
      <p:sp>
        <p:nvSpPr>
          <p:cNvPr id="6" name="Text 3"/>
          <p:cNvSpPr/>
          <p:nvPr/>
        </p:nvSpPr>
        <p:spPr>
          <a:xfrm>
            <a:off x="1384300" y="3500121"/>
            <a:ext cx="196215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B6B3A"/>
                </a:solidFill>
                <a:latin typeface="Arial" pitchFamily="34" charset="0"/>
                <a:ea typeface="Arial" pitchFamily="34" charset="-122"/>
                <a:cs typeface="Arial" pitchFamily="34" charset="-120"/>
              </a:rPr>
              <a:t>average power over the range</a:t>
            </a:r>
            <a:endParaRPr lang="en-US" sz="1200" dirty="0"/>
          </a:p>
        </p:txBody>
      </p:sp>
      <p:sp>
        <p:nvSpPr>
          <p:cNvPr id="7" name="Text 4"/>
          <p:cNvSpPr/>
          <p:nvPr/>
        </p:nvSpPr>
        <p:spPr>
          <a:xfrm>
            <a:off x="3606800" y="4401821"/>
            <a:ext cx="19621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4261E"/>
                </a:solidFill>
                <a:latin typeface="Arial" pitchFamily="34" charset="0"/>
                <a:ea typeface="Arial" pitchFamily="34" charset="-122"/>
                <a:cs typeface="Arial" pitchFamily="34" charset="-120"/>
              </a:rPr>
              <a:t>power at the best guess</a:t>
            </a:r>
            <a:endParaRPr lang="en-US" sz="1200" dirty="0"/>
          </a:p>
        </p:txBody>
      </p:sp>
      <p:sp>
        <p:nvSpPr>
          <p:cNvPr id="8" name="Text 5"/>
          <p:cNvSpPr/>
          <p:nvPr/>
        </p:nvSpPr>
        <p:spPr>
          <a:xfrm>
            <a:off x="914400" y="52527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0</a:t>
            </a:r>
            <a:endParaRPr lang="en-US" sz="1200" dirty="0"/>
          </a:p>
        </p:txBody>
      </p:sp>
      <p:sp>
        <p:nvSpPr>
          <p:cNvPr id="9" name="Text 6"/>
          <p:cNvSpPr/>
          <p:nvPr/>
        </p:nvSpPr>
        <p:spPr>
          <a:xfrm>
            <a:off x="2711450" y="52527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5</a:t>
            </a:r>
            <a:endParaRPr lang="en-US" sz="1200" dirty="0"/>
          </a:p>
        </p:txBody>
      </p:sp>
      <p:sp>
        <p:nvSpPr>
          <p:cNvPr id="10" name="Text 7"/>
          <p:cNvSpPr/>
          <p:nvPr/>
        </p:nvSpPr>
        <p:spPr>
          <a:xfrm>
            <a:off x="4572000" y="52527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10</a:t>
            </a:r>
            <a:endParaRPr lang="en-US" sz="1200" dirty="0"/>
          </a:p>
        </p:txBody>
      </p:sp>
      <p:sp>
        <p:nvSpPr>
          <p:cNvPr id="11" name="Text 8"/>
          <p:cNvSpPr/>
          <p:nvPr/>
        </p:nvSpPr>
        <p:spPr>
          <a:xfrm>
            <a:off x="5080000" y="525272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B62"/>
                </a:solidFill>
                <a:latin typeface="Arial" pitchFamily="34" charset="0"/>
                <a:ea typeface="Arial" pitchFamily="34" charset="-122"/>
                <a:cs typeface="Arial" pitchFamily="34" charset="-120"/>
              </a:rPr>
              <a:t>wind speed, m/s</a:t>
            </a:r>
            <a:endParaRPr lang="en-US" sz="1200" dirty="0"/>
          </a:p>
        </p:txBody>
      </p:sp>
      <p:sp>
        <p:nvSpPr>
          <p:cNvPr id="12" name="Text 9"/>
          <p:cNvSpPr/>
          <p:nvPr/>
        </p:nvSpPr>
        <p:spPr>
          <a:xfrm>
            <a:off x="6934200" y="2288539"/>
            <a:ext cx="45783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62"/>
                </a:solidFill>
                <a:latin typeface="Arial" pitchFamily="34" charset="0"/>
                <a:ea typeface="Arial" pitchFamily="34" charset="-122"/>
                <a:cs typeface="Arial" pitchFamily="34" charset="-120"/>
              </a:rPr>
              <a:t>Average energy bias, baseline → our model</a:t>
            </a:r>
            <a:endParaRPr lang="en-US" sz="1400" dirty="0"/>
          </a:p>
        </p:txBody>
      </p:sp>
      <p:sp>
        <p:nvSpPr>
          <p:cNvPr id="13" name="Text 10"/>
          <p:cNvSpPr/>
          <p:nvPr/>
        </p:nvSpPr>
        <p:spPr>
          <a:xfrm>
            <a:off x="6934200" y="2689861"/>
            <a:ext cx="4578350"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0B6B3A"/>
                </a:solidFill>
                <a:latin typeface="Arial" pitchFamily="34" charset="0"/>
                <a:ea typeface="Arial" pitchFamily="34" charset="-122"/>
                <a:cs typeface="Arial" pitchFamily="34" charset="-120"/>
              </a:rPr>
              <a:t>−8.5 % → +1.4 %</a:t>
            </a:r>
            <a:endParaRPr lang="en-US" sz="3200" dirty="0"/>
          </a:p>
        </p:txBody>
      </p:sp>
      <p:sp>
        <p:nvSpPr>
          <p:cNvPr id="14" name="Text 11"/>
          <p:cNvSpPr/>
          <p:nvPr/>
        </p:nvSpPr>
        <p:spPr>
          <a:xfrm>
            <a:off x="6934200" y="3411221"/>
            <a:ext cx="457835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Between 3 and 11 m/s the curve bends upward: a gust above the guess adds more power than an equal lull removes.</a:t>
            </a:r>
            <a:endParaRPr lang="en-US" sz="1600" dirty="0"/>
          </a:p>
        </p:txBody>
      </p:sp>
      <p:sp>
        <p:nvSpPr>
          <p:cNvPr id="15" name="Text 12"/>
          <p:cNvSpPr/>
          <p:nvPr/>
        </p:nvSpPr>
        <p:spPr>
          <a:xfrm>
            <a:off x="6934200" y="4417061"/>
            <a:ext cx="457835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So we average the power over the plausible wind range. Alone, this cut the park error from 11.0 % to 9.0 %.</a:t>
            </a:r>
            <a:endParaRPr lang="en-US" sz="1600" dirty="0"/>
          </a:p>
        </p:txBody>
      </p:sp>
      <p:sp>
        <p:nvSpPr>
          <p:cNvPr id="16" name="Text 1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Illustration: power curve of T1–T3 · 5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INSIGHT 3</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What remains is weather luck, so we show a range</a:t>
            </a:r>
            <a:endParaRPr lang="en-US" sz="3200" dirty="0"/>
          </a:p>
        </p:txBody>
      </p:sp>
      <p:pic>
        <p:nvPicPr>
          <p:cNvPr id="4" name="Image 0" descr="Park energy error of each of the 28 simulated outages. Baseline dots sit mostly below zero, average minus 8.5 percent. Our model's dots are centred near zero, average plus 1.4 percent, with a similar spread.">    </p:cNvPr>
          <p:cNvPicPr>
            <a:picLocks noChangeAspect="1"/>
          </p:cNvPicPr>
          <p:nvPr/>
        </p:nvPicPr>
        <p:blipFill>
          <a:blip r:embed="rId1"/>
          <a:srcRect l="0" r="0" t="0" b="0"/>
          <a:stretch/>
        </p:blipFill>
        <p:spPr>
          <a:xfrm>
            <a:off x="812800" y="2001521"/>
            <a:ext cx="6350000" cy="2667000"/>
          </a:xfrm>
          <a:prstGeom prst="rect">
            <a:avLst/>
          </a:prstGeom>
        </p:spPr>
      </p:pic>
      <p:sp>
        <p:nvSpPr>
          <p:cNvPr id="5" name="Text 2"/>
          <p:cNvSpPr/>
          <p:nvPr/>
        </p:nvSpPr>
        <p:spPr>
          <a:xfrm>
            <a:off x="812800" y="2255521"/>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A6B62"/>
                </a:solidFill>
                <a:latin typeface="Arial" pitchFamily="34" charset="0"/>
                <a:ea typeface="Arial" pitchFamily="34" charset="-122"/>
                <a:cs typeface="Arial" pitchFamily="34" charset="-120"/>
              </a:rPr>
              <a:t>Baseline: too low on average (−8.5 %)</a:t>
            </a:r>
            <a:endParaRPr lang="en-US" sz="1200" dirty="0"/>
          </a:p>
        </p:txBody>
      </p:sp>
      <p:sp>
        <p:nvSpPr>
          <p:cNvPr id="6" name="Text 3"/>
          <p:cNvSpPr/>
          <p:nvPr/>
        </p:nvSpPr>
        <p:spPr>
          <a:xfrm>
            <a:off x="812800" y="3398521"/>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B3A"/>
                </a:solidFill>
                <a:latin typeface="Arial" pitchFamily="34" charset="0"/>
                <a:ea typeface="Arial" pitchFamily="34" charset="-122"/>
                <a:cs typeface="Arial" pitchFamily="34" charset="-120"/>
              </a:rPr>
              <a:t>Our model: centred (+1.4 %); the ±11 % spread stays</a:t>
            </a:r>
            <a:endParaRPr lang="en-US" sz="1200" dirty="0"/>
          </a:p>
        </p:txBody>
      </p:sp>
      <p:sp>
        <p:nvSpPr>
          <p:cNvPr id="7" name="Text 4"/>
          <p:cNvSpPr/>
          <p:nvPr/>
        </p:nvSpPr>
        <p:spPr>
          <a:xfrm>
            <a:off x="1168400" y="43891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−30 %</a:t>
            </a:r>
            <a:endParaRPr lang="en-US" sz="1200" dirty="0"/>
          </a:p>
        </p:txBody>
      </p:sp>
      <p:sp>
        <p:nvSpPr>
          <p:cNvPr id="8" name="Text 5"/>
          <p:cNvSpPr/>
          <p:nvPr/>
        </p:nvSpPr>
        <p:spPr>
          <a:xfrm>
            <a:off x="3771900" y="43891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0</a:t>
            </a:r>
            <a:endParaRPr lang="en-US" sz="1200" dirty="0"/>
          </a:p>
        </p:txBody>
      </p:sp>
      <p:sp>
        <p:nvSpPr>
          <p:cNvPr id="9" name="Text 6"/>
          <p:cNvSpPr/>
          <p:nvPr/>
        </p:nvSpPr>
        <p:spPr>
          <a:xfrm>
            <a:off x="6121400" y="43891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A6B62"/>
                </a:solidFill>
                <a:latin typeface="Arial" pitchFamily="34" charset="0"/>
                <a:ea typeface="Arial" pitchFamily="34" charset="-122"/>
                <a:cs typeface="Arial" pitchFamily="34" charset="-120"/>
              </a:rPr>
              <a:t>+30 %</a:t>
            </a:r>
            <a:endParaRPr lang="en-US" sz="1200" dirty="0"/>
          </a:p>
        </p:txBody>
      </p:sp>
      <p:sp>
        <p:nvSpPr>
          <p:cNvPr id="10" name="Text 7"/>
          <p:cNvSpPr/>
          <p:nvPr/>
        </p:nvSpPr>
        <p:spPr>
          <a:xfrm>
            <a:off x="7569200" y="2142489"/>
            <a:ext cx="3924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6B62"/>
                </a:solidFill>
                <a:latin typeface="Arial" pitchFamily="34" charset="0"/>
                <a:ea typeface="Arial" pitchFamily="34" charset="-122"/>
                <a:cs typeface="Arial" pitchFamily="34" charset="-120"/>
              </a:rPr>
              <a:t>Lost energy, judged outage 1–3 Sep</a:t>
            </a:r>
            <a:endParaRPr lang="en-US" sz="1400" dirty="0"/>
          </a:p>
        </p:txBody>
      </p:sp>
      <p:sp>
        <p:nvSpPr>
          <p:cNvPr id="11" name="Text 8"/>
          <p:cNvSpPr/>
          <p:nvPr/>
        </p:nvSpPr>
        <p:spPr>
          <a:xfrm>
            <a:off x="7569200" y="2493011"/>
            <a:ext cx="3924300"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0B3D2C"/>
                </a:solidFill>
                <a:latin typeface="Arial" pitchFamily="34" charset="0"/>
                <a:ea typeface="Arial" pitchFamily="34" charset="-122"/>
                <a:cs typeface="Arial" pitchFamily="34" charset="-120"/>
              </a:rPr>
              <a:t>322 MWh</a:t>
            </a:r>
            <a:endParaRPr lang="en-US" sz="6000" dirty="0"/>
          </a:p>
        </p:txBody>
      </p:sp>
      <p:sp>
        <p:nvSpPr>
          <p:cNvPr id="12" name="Text 9"/>
          <p:cNvSpPr/>
          <p:nvPr/>
        </p:nvSpPr>
        <p:spPr>
          <a:xfrm>
            <a:off x="7569200" y="3394711"/>
            <a:ext cx="3924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1E"/>
                </a:solidFill>
                <a:latin typeface="Arial" pitchFamily="34" charset="0"/>
                <a:ea typeface="Arial" pitchFamily="34" charset="-122"/>
                <a:cs typeface="Arial" pitchFamily="34" charset="-120"/>
              </a:rPr>
              <a:t>95 % range: 262–387 MWh</a:t>
            </a:r>
            <a:endParaRPr lang="en-US" sz="1600" dirty="0"/>
          </a:p>
        </p:txBody>
      </p:sp>
      <p:sp>
        <p:nvSpPr>
          <p:cNvPr id="13" name="Text 10"/>
          <p:cNvSpPr/>
          <p:nvPr/>
        </p:nvSpPr>
        <p:spPr>
          <a:xfrm>
            <a:off x="7569200" y="3780789"/>
            <a:ext cx="392430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52"/>
                </a:solidFill>
                <a:latin typeface="Arial" pitchFamily="34" charset="0"/>
                <a:ea typeface="Arial" pitchFamily="34" charset="-122"/>
                <a:cs typeface="Arial" pitchFamily="34" charset="-120"/>
              </a:rPr>
              <a:t>An outage’s energy error is its 3-day average wind error. Errors fade within hours and hit all three turbines at once.</a:t>
            </a:r>
            <a:endParaRPr lang="en-US" sz="1400" dirty="0"/>
          </a:p>
        </p:txBody>
      </p:sp>
      <p:sp>
        <p:nvSpPr>
          <p:cNvPr id="14" name="Text 11"/>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One dot = one simulated 3-day outage · 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B3A"/>
                </a:solidFill>
                <a:latin typeface="Arial" pitchFamily="34" charset="0"/>
                <a:ea typeface="Arial" pitchFamily="34" charset="-122"/>
                <a:cs typeface="Arial" pitchFamily="34" charset="-120"/>
              </a:rPr>
              <a:t>INSIGHT 4</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61E"/>
                </a:solidFill>
                <a:latin typeface="Arial" pitchFamily="34" charset="0"/>
                <a:ea typeface="Arial" pitchFamily="34" charset="-122"/>
                <a:cs typeface="Arial" pitchFamily="34" charset="-120"/>
              </a:rPr>
              <a:t>The transparent formula beat the black box</a:t>
            </a:r>
            <a:endParaRPr lang="en-US" sz="3200" dirty="0"/>
          </a:p>
        </p:txBody>
      </p:sp>
      <p:sp>
        <p:nvSpPr>
          <p:cNvPr id="4" name="Text 2"/>
          <p:cNvSpPr/>
          <p:nvPr/>
        </p:nvSpPr>
        <p:spPr>
          <a:xfrm>
            <a:off x="812800" y="2037082"/>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Baseline formula</a:t>
            </a:r>
            <a:endParaRPr lang="en-US" sz="1600" dirty="0"/>
          </a:p>
        </p:txBody>
      </p:sp>
      <p:sp>
        <p:nvSpPr>
          <p:cNvPr id="5" name="Shape 3"/>
          <p:cNvSpPr/>
          <p:nvPr/>
        </p:nvSpPr>
        <p:spPr>
          <a:xfrm>
            <a:off x="4572000" y="2001521"/>
            <a:ext cx="5715000" cy="355600"/>
          </a:xfrm>
          <a:prstGeom prst="roundRect">
            <a:avLst>
              <a:gd name="adj" fmla="val 14286"/>
            </a:avLst>
          </a:prstGeom>
          <a:solidFill>
            <a:srgbClr val="C9D3CD"/>
          </a:solidFill>
          <a:ln/>
        </p:spPr>
      </p:sp>
      <p:sp>
        <p:nvSpPr>
          <p:cNvPr id="6" name="Text 4"/>
          <p:cNvSpPr/>
          <p:nvPr/>
        </p:nvSpPr>
        <p:spPr>
          <a:xfrm>
            <a:off x="10490200" y="2037082"/>
            <a:ext cx="74571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1E"/>
                </a:solidFill>
                <a:latin typeface="Arial" pitchFamily="34" charset="0"/>
                <a:ea typeface="Arial" pitchFamily="34" charset="-122"/>
                <a:cs typeface="Arial" pitchFamily="34" charset="-120"/>
              </a:rPr>
              <a:t>11.0 %</a:t>
            </a:r>
            <a:endParaRPr lang="en-US" sz="1600" dirty="0"/>
          </a:p>
        </p:txBody>
      </p:sp>
      <p:sp>
        <p:nvSpPr>
          <p:cNvPr id="7" name="Text 5"/>
          <p:cNvSpPr/>
          <p:nvPr/>
        </p:nvSpPr>
        <p:spPr>
          <a:xfrm>
            <a:off x="812800" y="2570482"/>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Gradient boosting (black box)</a:t>
            </a:r>
            <a:endParaRPr lang="en-US" sz="1600" dirty="0"/>
          </a:p>
        </p:txBody>
      </p:sp>
      <p:sp>
        <p:nvSpPr>
          <p:cNvPr id="8" name="Shape 6"/>
          <p:cNvSpPr/>
          <p:nvPr/>
        </p:nvSpPr>
        <p:spPr>
          <a:xfrm>
            <a:off x="4572000" y="2534921"/>
            <a:ext cx="5041900" cy="355600"/>
          </a:xfrm>
          <a:prstGeom prst="roundRect">
            <a:avLst>
              <a:gd name="adj" fmla="val 14286"/>
            </a:avLst>
          </a:prstGeom>
          <a:solidFill>
            <a:srgbClr val="8A948F"/>
          </a:solidFill>
          <a:ln/>
        </p:spPr>
      </p:sp>
      <p:sp>
        <p:nvSpPr>
          <p:cNvPr id="9" name="Text 7"/>
          <p:cNvSpPr/>
          <p:nvPr/>
        </p:nvSpPr>
        <p:spPr>
          <a:xfrm>
            <a:off x="9817100" y="2570482"/>
            <a:ext cx="62360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1E"/>
                </a:solidFill>
                <a:latin typeface="Arial" pitchFamily="34" charset="0"/>
                <a:ea typeface="Arial" pitchFamily="34" charset="-122"/>
                <a:cs typeface="Arial" pitchFamily="34" charset="-120"/>
              </a:rPr>
              <a:t>9.7 %</a:t>
            </a:r>
            <a:endParaRPr lang="en-US" sz="1600" dirty="0"/>
          </a:p>
        </p:txBody>
      </p:sp>
      <p:sp>
        <p:nvSpPr>
          <p:cNvPr id="10" name="Text 8"/>
          <p:cNvSpPr/>
          <p:nvPr/>
        </p:nvSpPr>
        <p:spPr>
          <a:xfrm>
            <a:off x="812800" y="3103882"/>
            <a:ext cx="366268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Small neural network</a:t>
            </a:r>
            <a:endParaRPr lang="en-US" sz="1600" dirty="0"/>
          </a:p>
        </p:txBody>
      </p:sp>
      <p:sp>
        <p:nvSpPr>
          <p:cNvPr id="11" name="Shape 9"/>
          <p:cNvSpPr/>
          <p:nvPr/>
        </p:nvSpPr>
        <p:spPr>
          <a:xfrm>
            <a:off x="4572000" y="3068321"/>
            <a:ext cx="4730750" cy="355600"/>
          </a:xfrm>
          <a:prstGeom prst="roundRect">
            <a:avLst>
              <a:gd name="adj" fmla="val 14286"/>
            </a:avLst>
          </a:prstGeom>
          <a:solidFill>
            <a:srgbClr val="8A948F"/>
          </a:solidFill>
          <a:ln/>
        </p:spPr>
      </p:sp>
      <p:sp>
        <p:nvSpPr>
          <p:cNvPr id="12" name="Text 10"/>
          <p:cNvSpPr/>
          <p:nvPr/>
        </p:nvSpPr>
        <p:spPr>
          <a:xfrm>
            <a:off x="9505950" y="3103882"/>
            <a:ext cx="62360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61E"/>
                </a:solidFill>
                <a:latin typeface="Arial" pitchFamily="34" charset="0"/>
                <a:ea typeface="Arial" pitchFamily="34" charset="-122"/>
                <a:cs typeface="Arial" pitchFamily="34" charset="-120"/>
              </a:rPr>
              <a:t>9.1 %</a:t>
            </a:r>
            <a:endParaRPr lang="en-US" sz="1600" dirty="0"/>
          </a:p>
        </p:txBody>
      </p:sp>
      <p:sp>
        <p:nvSpPr>
          <p:cNvPr id="13" name="Text 11"/>
          <p:cNvSpPr/>
          <p:nvPr/>
        </p:nvSpPr>
        <p:spPr>
          <a:xfrm>
            <a:off x="812800" y="3637282"/>
            <a:ext cx="366268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3A"/>
                </a:solidFill>
                <a:latin typeface="Arial" pitchFamily="34" charset="0"/>
                <a:ea typeface="Arial" pitchFamily="34" charset="-122"/>
                <a:cs typeface="Arial" pitchFamily="34" charset="-120"/>
              </a:rPr>
              <a:t>Our transparent formula</a:t>
            </a:r>
            <a:endParaRPr lang="en-US" sz="1600" dirty="0"/>
          </a:p>
        </p:txBody>
      </p:sp>
      <p:sp>
        <p:nvSpPr>
          <p:cNvPr id="14" name="Shape 12"/>
          <p:cNvSpPr/>
          <p:nvPr/>
        </p:nvSpPr>
        <p:spPr>
          <a:xfrm>
            <a:off x="4572000" y="3601721"/>
            <a:ext cx="4413250" cy="355600"/>
          </a:xfrm>
          <a:prstGeom prst="roundRect">
            <a:avLst>
              <a:gd name="adj" fmla="val 14286"/>
            </a:avLst>
          </a:prstGeom>
          <a:solidFill>
            <a:srgbClr val="0B6B3A"/>
          </a:solidFill>
          <a:ln/>
        </p:spPr>
      </p:sp>
      <p:sp>
        <p:nvSpPr>
          <p:cNvPr id="15" name="Text 13"/>
          <p:cNvSpPr/>
          <p:nvPr/>
        </p:nvSpPr>
        <p:spPr>
          <a:xfrm>
            <a:off x="9188450" y="3637282"/>
            <a:ext cx="126044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3A"/>
                </a:solidFill>
                <a:latin typeface="Arial" pitchFamily="34" charset="0"/>
                <a:ea typeface="Arial" pitchFamily="34" charset="-122"/>
                <a:cs typeface="Arial" pitchFamily="34" charset="-120"/>
              </a:rPr>
              <a:t>8.5 %, best</a:t>
            </a:r>
            <a:endParaRPr lang="en-US" sz="1600" dirty="0"/>
          </a:p>
        </p:txBody>
      </p:sp>
      <p:sp>
        <p:nvSpPr>
          <p:cNvPr id="16" name="Text 14"/>
          <p:cNvSpPr/>
          <p:nvPr/>
        </p:nvSpPr>
        <p:spPr>
          <a:xfrm>
            <a:off x="812800" y="4211321"/>
            <a:ext cx="98107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1E"/>
                </a:solidFill>
                <a:latin typeface="Arial" pitchFamily="34" charset="0"/>
                <a:ea typeface="Arial" pitchFamily="34" charset="-122"/>
                <a:cs typeface="Arial" pitchFamily="34" charset="-120"/>
              </a:rPr>
              <a:t>About 50 variants tested. Most extras (time weighting, time of day, temperature, pressure, curved fits) added numbers, not information.</a:t>
            </a:r>
            <a:endParaRPr lang="en-US" sz="1600" dirty="0"/>
          </a:p>
        </p:txBody>
      </p:sp>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B62"/>
                </a:solidFill>
                <a:latin typeface="Arial" pitchFamily="34" charset="0"/>
                <a:ea typeface="Arial" pitchFamily="34" charset="-122"/>
                <a:cs typeface="Arial" pitchFamily="34" charset="-120"/>
              </a:rPr>
              <a:t>Watt The Hack 2026 · Mean park energy error over 28 simulated outages, lower is better · 7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D2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AD804"/>
                </a:solidFill>
                <a:latin typeface="Arial" pitchFamily="34" charset="0"/>
                <a:ea typeface="Arial" pitchFamily="34" charset="-122"/>
                <a:cs typeface="Arial" pitchFamily="34" charset="-120"/>
              </a:rPr>
              <a:t>THE ANSWER</a:t>
            </a:r>
            <a:endParaRPr lang="en-US" sz="1200" dirty="0"/>
          </a:p>
        </p:txBody>
      </p:sp>
      <p:sp>
        <p:nvSpPr>
          <p:cNvPr id="3" name="Text 1"/>
          <p:cNvSpPr/>
          <p:nvPr>
            <p:ph type="title"/>
          </p:nvPr>
        </p:nvSpPr>
        <p:spPr>
          <a:xfrm>
            <a:off x="812800" y="12801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7F2"/>
                </a:solidFill>
                <a:latin typeface="Arial" pitchFamily="34" charset="0"/>
                <a:ea typeface="Arial" pitchFamily="34" charset="-122"/>
                <a:cs typeface="Arial" pitchFamily="34" charset="-120"/>
              </a:rPr>
              <a:t>322 MWh lost on 1–3 Sep, between 262 and 387 MWh</a:t>
            </a:r>
            <a:endParaRPr lang="en-US" sz="3200" dirty="0"/>
          </a:p>
        </p:txBody>
      </p:sp>
      <p:sp>
        <p:nvSpPr>
          <p:cNvPr id="4" name="Text 2"/>
          <p:cNvSpPr/>
          <p:nvPr/>
        </p:nvSpPr>
        <p:spPr>
          <a:xfrm>
            <a:off x="812800" y="2001521"/>
            <a:ext cx="508000"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AD804"/>
                </a:solidFill>
                <a:latin typeface="Arial" pitchFamily="34" charset="0"/>
                <a:ea typeface="Arial" pitchFamily="34" charset="-122"/>
                <a:cs typeface="Arial" pitchFamily="34" charset="-120"/>
              </a:rPr>
              <a:t>1</a:t>
            </a:r>
            <a:endParaRPr lang="en-US" sz="3200" dirty="0"/>
          </a:p>
        </p:txBody>
      </p:sp>
      <p:sp>
        <p:nvSpPr>
          <p:cNvPr id="5" name="Text 3"/>
          <p:cNvSpPr/>
          <p:nvPr/>
        </p:nvSpPr>
        <p:spPr>
          <a:xfrm>
            <a:off x="1473200" y="2131696"/>
            <a:ext cx="8168164"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3EDE7"/>
                </a:solidFill>
                <a:latin typeface="Arial" pitchFamily="34" charset="0"/>
                <a:ea typeface="Arial" pitchFamily="34" charset="-122"/>
                <a:cs typeface="Arial" pitchFamily="34" charset="-120"/>
              </a:rPr>
              <a:t>Tested on 28 simulated outages: park energy error 11.0 % → 8.5 %</a:t>
            </a:r>
            <a:endParaRPr lang="en-US" sz="1800" dirty="0"/>
          </a:p>
        </p:txBody>
      </p:sp>
      <p:sp>
        <p:nvSpPr>
          <p:cNvPr id="6" name="Text 4"/>
          <p:cNvSpPr/>
          <p:nvPr/>
        </p:nvSpPr>
        <p:spPr>
          <a:xfrm>
            <a:off x="812800" y="2748282"/>
            <a:ext cx="508000"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AD804"/>
                </a:solidFill>
                <a:latin typeface="Arial" pitchFamily="34" charset="0"/>
                <a:ea typeface="Arial" pitchFamily="34" charset="-122"/>
                <a:cs typeface="Arial" pitchFamily="34" charset="-120"/>
              </a:rPr>
              <a:t>2</a:t>
            </a:r>
            <a:endParaRPr lang="en-US" sz="3200" dirty="0"/>
          </a:p>
        </p:txBody>
      </p:sp>
      <p:sp>
        <p:nvSpPr>
          <p:cNvPr id="7" name="Text 5"/>
          <p:cNvSpPr/>
          <p:nvPr/>
        </p:nvSpPr>
        <p:spPr>
          <a:xfrm>
            <a:off x="1473200" y="2878457"/>
            <a:ext cx="6994303"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3EDE7"/>
                </a:solidFill>
                <a:latin typeface="Arial" pitchFamily="34" charset="0"/>
                <a:ea typeface="Arial" pitchFamily="34" charset="-122"/>
                <a:cs typeface="Arial" pitchFamily="34" charset="-120"/>
              </a:rPr>
              <a:t>Averaging the power removed the bias: −8.5 % → +1.4 %</a:t>
            </a:r>
            <a:endParaRPr lang="en-US" sz="1800" dirty="0"/>
          </a:p>
        </p:txBody>
      </p:sp>
      <p:sp>
        <p:nvSpPr>
          <p:cNvPr id="8" name="Text 6"/>
          <p:cNvSpPr/>
          <p:nvPr/>
        </p:nvSpPr>
        <p:spPr>
          <a:xfrm>
            <a:off x="812800" y="3495039"/>
            <a:ext cx="508000"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AD804"/>
                </a:solidFill>
                <a:latin typeface="Arial" pitchFamily="34" charset="0"/>
                <a:ea typeface="Arial" pitchFamily="34" charset="-122"/>
                <a:cs typeface="Arial" pitchFamily="34" charset="-120"/>
              </a:rPr>
              <a:t>3</a:t>
            </a:r>
            <a:endParaRPr lang="en-US" sz="3200" dirty="0"/>
          </a:p>
        </p:txBody>
      </p:sp>
      <p:sp>
        <p:nvSpPr>
          <p:cNvPr id="9" name="Text 7"/>
          <p:cNvSpPr/>
          <p:nvPr/>
        </p:nvSpPr>
        <p:spPr>
          <a:xfrm>
            <a:off x="1473200" y="3625214"/>
            <a:ext cx="8966359"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3EDE7"/>
                </a:solidFill>
                <a:latin typeface="Arial" pitchFamily="34" charset="0"/>
                <a:ea typeface="Arial" pitchFamily="34" charset="-122"/>
                <a:cs typeface="Arial" pitchFamily="34" charset="-120"/>
              </a:rPr>
              <a:t>One transparent formula, every number explainable, with an honest range</a:t>
            </a:r>
            <a:endParaRPr lang="en-US" sz="1800" dirty="0"/>
          </a:p>
        </p:txBody>
      </p:sp>
      <p:sp>
        <p:nvSpPr>
          <p:cNvPr id="10" name="Text 8"/>
          <p:cNvSpPr/>
          <p:nvPr/>
        </p:nvSpPr>
        <p:spPr>
          <a:xfrm>
            <a:off x="812800" y="57607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D8CB"/>
                </a:solidFill>
                <a:latin typeface="Arial" pitchFamily="34" charset="0"/>
                <a:ea typeface="Arial" pitchFamily="34" charset="-122"/>
                <a:cs typeface="Arial" pitchFamily="34" charset="-120"/>
              </a:rPr>
              <a:t>Try it live: </a:t>
            </a:r>
            <a:r>
              <a:rPr lang="en-US" sz="1600" b="1" dirty="0">
                <a:solidFill>
                  <a:srgbClr val="FAD804"/>
                </a:solidFill>
                <a:latin typeface="Arial" pitchFamily="34" charset="0"/>
                <a:ea typeface="Arial" pitchFamily="34" charset="-122"/>
                <a:cs typeface="Arial" pitchFamily="34" charset="-120"/>
              </a:rPr>
              <a:t>[app URL]</a:t>
            </a:r>
            <a:r>
              <a:rPr lang="en-US" sz="1600" dirty="0">
                <a:solidFill>
                  <a:srgbClr val="BFD8CB"/>
                </a:solidFill>
                <a:latin typeface="Arial" pitchFamily="34" charset="0"/>
                <a:ea typeface="Arial" pitchFamily="34" charset="-122"/>
                <a:cs typeface="Arial" pitchFamily="34" charset="-120"/>
              </a:rPr>
              <a:t> · upload any outage window, get kWh with a 95 % range</a:t>
            </a:r>
            <a:endParaRPr lang="en-US" sz="1600" dirty="0"/>
          </a:p>
        </p:txBody>
      </p:sp>
    </p:spTree>
  </p:cSld>
  <p:clrMapOvr>
    <a:masterClrMapping/>
  </p:clrMapOvr>
</p:sld>
</file>

<file path=ppt/theme/theme1.xml><?xml version="1.0" encoding="utf-8"?>
<a:theme xmlns:a="http://schemas.openxmlformats.org/drawingml/2006/main" name="Wind outage pitch draft">
  <a:themeElements>
    <a:clrScheme name="Wind outage pitch draft">
      <a:dk1>
        <a:srgbClr val="14261E"/>
      </a:dk1>
      <a:lt1>
        <a:srgbClr val="F4F7F2"/>
      </a:lt1>
      <a:dk2>
        <a:srgbClr val="4C5A53"/>
      </a:dk2>
      <a:lt2>
        <a:srgbClr val="DEE2DD"/>
      </a:lt2>
      <a:accent1>
        <a:srgbClr val="0B6B3A"/>
      </a:accent1>
      <a:accent2>
        <a:srgbClr val="FAD804"/>
      </a:accent2>
      <a:accent3>
        <a:srgbClr val="5A6B62"/>
      </a:accent3>
      <a:accent4>
        <a:srgbClr val="BFD8CB"/>
      </a:accent4>
      <a:accent5>
        <a:srgbClr val="C9D3CD"/>
      </a:accent5>
      <a:accent6>
        <a:srgbClr val="8A948F"/>
      </a:accent6>
      <a:hlink>
        <a:srgbClr val="0563C1"/>
      </a:hlink>
      <a:folHlink>
        <a:srgbClr val="954F72"/>
      </a:folHlink>
    </a:clrScheme>
    <a:fontScheme name="Wind outage pitch draf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 outage pitch draft</dc:title>
  <dc:subject/>
  <dc:creator/>
  <cp:lastModifiedBy/>
  <cp:revision>1</cp:revision>
  <dcterms:created xsi:type="dcterms:W3CDTF">2026-10-24T15:01:37Z</dcterms:created>
  <dcterms:modified xsi:type="dcterms:W3CDTF">2026-10-24T15:01:37Z</dcterms:modified>
</cp:coreProperties>
</file>