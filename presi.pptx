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8" r:id="rId3"/>
    <p:sldId id="261" r:id="rId4"/>
    <p:sldId id="260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504B"/>
    <a:srgbClr val="008C4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7949" autoAdjust="0"/>
  </p:normalViewPr>
  <p:slideViewPr>
    <p:cSldViewPr snapToGrid="0">
      <p:cViewPr varScale="1">
        <p:scale>
          <a:sx n="43" d="100"/>
          <a:sy n="43" d="100"/>
        </p:scale>
        <p:origin x="70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EE3C2C-F415-442F-AC6B-682E5D6A856C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B691D1-3BB7-4244-B7AD-11AA4C0004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992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Features: 10 min </a:t>
            </a:r>
            <a:r>
              <a:rPr lang="de-DE" dirty="0" err="1"/>
              <a:t>avg</a:t>
            </a:r>
            <a:r>
              <a:rPr lang="de-DE" dirty="0"/>
              <a:t> wind </a:t>
            </a:r>
            <a:r>
              <a:rPr lang="de-DE" dirty="0" err="1"/>
              <a:t>speed</a:t>
            </a:r>
            <a:r>
              <a:rPr lang="de-DE" dirty="0"/>
              <a:t> as </a:t>
            </a:r>
            <a:r>
              <a:rPr lang="de-DE" dirty="0" err="1"/>
              <a:t>provided</a:t>
            </a:r>
            <a:endParaRPr lang="de-DE" dirty="0"/>
          </a:p>
          <a:p>
            <a:r>
              <a:rPr lang="de-DE" dirty="0"/>
              <a:t>60 min </a:t>
            </a:r>
            <a:r>
              <a:rPr lang="de-DE" dirty="0" err="1"/>
              <a:t>averaged</a:t>
            </a:r>
            <a:r>
              <a:rPr lang="de-DE" dirty="0"/>
              <a:t> wind </a:t>
            </a:r>
            <a:r>
              <a:rPr lang="de-DE" dirty="0" err="1"/>
              <a:t>speed</a:t>
            </a:r>
            <a:r>
              <a:rPr lang="de-DE" dirty="0"/>
              <a:t> to smooth out </a:t>
            </a:r>
            <a:r>
              <a:rPr lang="de-DE" dirty="0" err="1"/>
              <a:t>gusts</a:t>
            </a:r>
            <a:endParaRPr lang="de-DE" dirty="0"/>
          </a:p>
          <a:p>
            <a:r>
              <a:rPr lang="de-DE" dirty="0"/>
              <a:t>8 wind </a:t>
            </a:r>
            <a:r>
              <a:rPr lang="de-DE" dirty="0" err="1"/>
              <a:t>direction</a:t>
            </a:r>
            <a:r>
              <a:rPr lang="de-DE" dirty="0"/>
              <a:t> </a:t>
            </a:r>
            <a:r>
              <a:rPr lang="de-DE" dirty="0" err="1"/>
              <a:t>sections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learned</a:t>
            </a:r>
            <a:r>
              <a:rPr lang="de-DE" dirty="0"/>
              <a:t> the </a:t>
            </a:r>
            <a:r>
              <a:rPr lang="de-DE" dirty="0" err="1"/>
              <a:t>weights</a:t>
            </a:r>
            <a:r>
              <a:rPr lang="de-DE" dirty="0"/>
              <a:t> for </a:t>
            </a:r>
            <a:r>
              <a:rPr lang="de-DE" dirty="0" err="1"/>
              <a:t>summing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: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a </a:t>
            </a:r>
            <a:r>
              <a:rPr lang="de-DE" dirty="0" err="1"/>
              <a:t>confidence</a:t>
            </a:r>
            <a:r>
              <a:rPr lang="de-DE" dirty="0"/>
              <a:t> score in </a:t>
            </a:r>
            <a:r>
              <a:rPr lang="de-DE" dirty="0" err="1"/>
              <a:t>which</a:t>
            </a:r>
            <a:r>
              <a:rPr lang="de-DE" dirty="0"/>
              <a:t> the </a:t>
            </a:r>
            <a:r>
              <a:rPr lang="de-DE" dirty="0" err="1"/>
              <a:t>windspeed</a:t>
            </a:r>
            <a:r>
              <a:rPr lang="de-DE" dirty="0"/>
              <a:t> </a:t>
            </a:r>
            <a:r>
              <a:rPr lang="de-DE" dirty="0" err="1"/>
              <a:t>probably</a:t>
            </a:r>
            <a:r>
              <a:rPr lang="de-DE" dirty="0"/>
              <a:t> lies</a:t>
            </a:r>
          </a:p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tried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and also different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didnt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and </a:t>
            </a:r>
            <a:r>
              <a:rPr lang="de-DE" dirty="0" err="1"/>
              <a:t>therefore</a:t>
            </a:r>
            <a:r>
              <a:rPr lang="de-DE" dirty="0"/>
              <a:t> </a:t>
            </a:r>
            <a:r>
              <a:rPr lang="de-DE" dirty="0" err="1"/>
              <a:t>chose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windspeed</a:t>
            </a:r>
            <a:r>
              <a:rPr lang="de-DE" dirty="0"/>
              <a:t> to power </a:t>
            </a:r>
            <a:r>
              <a:rPr lang="de-DE" dirty="0" err="1"/>
              <a:t>curve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non linear and </a:t>
            </a:r>
            <a:r>
              <a:rPr lang="de-DE" dirty="0" err="1"/>
              <a:t>average</a:t>
            </a:r>
            <a:r>
              <a:rPr lang="de-DE" dirty="0"/>
              <a:t> wind </a:t>
            </a:r>
            <a:r>
              <a:rPr lang="de-DE" dirty="0" err="1"/>
              <a:t>speeds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steepest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-&gt; small wind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in </a:t>
            </a:r>
            <a:r>
              <a:rPr lang="de-DE" dirty="0" err="1"/>
              <a:t>huge</a:t>
            </a:r>
            <a:r>
              <a:rPr lang="de-DE" dirty="0"/>
              <a:t> power </a:t>
            </a:r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-&gt; </a:t>
            </a:r>
            <a:r>
              <a:rPr lang="de-DE" dirty="0" err="1"/>
              <a:t>optimize</a:t>
            </a:r>
            <a:r>
              <a:rPr lang="de-DE" dirty="0"/>
              <a:t> for </a:t>
            </a:r>
            <a:r>
              <a:rPr lang="de-DE" dirty="0" err="1"/>
              <a:t>correct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by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statistical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: sample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power </a:t>
            </a:r>
            <a:r>
              <a:rPr lang="de-DE" dirty="0" err="1"/>
              <a:t>curve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691D1-3BB7-4244-B7AD-11AA4C00049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177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691D1-3BB7-4244-B7AD-11AA4C00049C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769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4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on 28 simulated outages, not one lucky week</a:t>
            </a:r>
            <a:endParaRPr lang="en-US" sz="1200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691D1-3BB7-4244-B7AD-11AA4C00049C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194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2384EA-6558-6AB4-238E-D9B1B55DBD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79DAD28-5C6B-9060-CC0B-0F9681961F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B2DBAA-C766-2004-D1EB-FBD8568D2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6FF31-542E-488B-B51B-7E258DD3A14D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2244D9-CA98-E4E1-584D-43989F83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AE21B2-B359-DDE3-9E78-A63BCAC0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289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57EB47-E360-0462-6B16-89E207AB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7F241-4A85-3530-19E9-DF6BF2AEA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50832-F666-9AAB-E19B-2B10126D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0BA480-E9F5-531C-E01A-8F0282B94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E7D90E-C6C7-04F4-3ADE-BC6A3EB92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4362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A487B-DAA9-A697-A85A-6948F988F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9B143C-A1D4-8FA9-7DB7-8BE3CD8DC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385501-78B3-D1CC-F48F-F4128A9C4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2EF16-53AE-4207-B5D7-4927C6099152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C58F29-E35A-E190-3C68-058E69DC1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67E1B47-8132-01F3-5321-2E0FF65A5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024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AB27BC-C9D8-4B72-FF93-9D82F7D15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17E299-D32E-8EA7-4B5C-F3601D143A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E0BF50C-A76E-2433-3F28-FFF3A0129C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92B4CE-AD6A-2313-93FF-7F65AEFAD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F9AD-0D68-4148-9497-626A62D1E3E4}" type="datetime1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98D151-7819-BECD-6B6F-3E6D30C9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CB0E599-6028-377C-67E7-4B7080FF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868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0BAE90-7ECE-59E0-FA51-5BFC3D837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E1F3CF-03AD-393C-CA73-F5C550280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61F7DDF-EED1-7AFB-40D0-77F7EFC2D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C068823-BEC5-EEF6-48D9-772B4C3B16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36152E-559F-96D9-1CD7-9DEC5CE9BA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DF4BA3D-3ECC-CE5F-D41B-4621D372A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83B-996E-43A3-BE9A-3D4E095FD3BA}" type="datetime1">
              <a:rPr lang="de-DE" smtClean="0"/>
              <a:t>24.10.2026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7554734-C77B-FCB9-3928-423BA9E1D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4910A29-1A3C-3E78-FE20-77B881FB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3909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3B4D9-433E-D550-DDFD-C3E76572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93EF84-7A7D-7910-BA98-92E894B76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3C787-BB14-44F5-B62B-6C4CE8B46892}" type="datetime1">
              <a:rPr lang="de-DE" smtClean="0"/>
              <a:t>24.10.2026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9628AE-D931-49CA-321E-A369B2F91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1A022B-2DC4-BC80-743A-95AE8498E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519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E68DB8C-F53B-5239-4C9D-2E5289326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730CB-00E9-46EA-B39F-E6FA8C1CF8B7}" type="datetime1">
              <a:rPr lang="de-DE" smtClean="0"/>
              <a:t>24.10.2026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8C8FC93-57F4-9295-ED09-1D88E8555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0FA926-66B9-E303-7909-9B6AA5A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5706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C345E-E301-996D-9AD3-ECD59072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E5D6EB-8992-8AA1-85AE-B5F1D683E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D26FB1-CE40-4E38-C90C-D52E6570C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9B16669-24A8-3495-DF40-9057886B3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1541D-3A37-431E-876F-21DE6A224A14}" type="datetime1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1C740B-204B-470B-475F-4B76DD284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F7C55B7-0D69-CC1A-5E50-42F71AB37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0258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5B691-70F4-7448-4029-560A4EA44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895EA5B-697F-182A-DF09-4A5D4B95E9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C8E0CF5-7B61-4AA1-4F2B-83E51C206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2EB46D-54FB-2538-6E4B-C61B6165D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120D-39BF-42AA-954A-4FCE746D60A8}" type="datetime1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97965D-A505-19E9-52F1-871FB0CAF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A96AE9-6B37-2D89-190A-9C91EFFF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606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4D4CEE-BCDD-B4C2-3B4B-245CA5DE1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7CE4AE5-74DB-45A1-4CE5-6AE520E974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01E11F-A71B-3643-0EA1-2877CAC62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A4D3E-38B8-480A-8F4A-0906651458A4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862BFC-5EA1-B4DC-DD88-FDD805664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04A29AC-4A9F-5A41-6081-A741DD6D6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186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9C5AE66-8246-7646-E330-C9C0BFB2EF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6DFE68F-7A22-0C41-FEF6-C4EA15D213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E39BD8-5313-13A8-A8A3-83607A903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DCCFE-9F96-4605-86BC-85C44D051153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A0C48E-ADC4-F52F-BA79-D93DB0BCA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6DC768-3A66-8DC9-3895-D128E3417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064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9016EA1-DE62-C3C4-6F11-D1A1A801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E9266C-CAC4-655F-82E5-043D76DB9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4E9D1F-9B3C-C57C-88FA-2BD16D748F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A055C4-E4DF-4CA5-809E-E41EC8EE1B7B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B52A1C-8858-1F73-A184-E2AC77C3A2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Munich Climate Week Hackathon - BayWa r.e. challenge - Lino &amp; Philip &amp; Thalea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6ECD5-BC67-5D1A-5F0F-0E3F28E33F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4BAF0B5-BCF2-E63F-09E1-310C6E1AF32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56" r="69524" b="24478"/>
          <a:stretch>
            <a:fillRect/>
          </a:stretch>
        </p:blipFill>
        <p:spPr>
          <a:xfrm>
            <a:off x="10135503" y="196394"/>
            <a:ext cx="1045028" cy="672123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A8809A58-8CDF-19C1-48C6-F444E28D09C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136525"/>
            <a:ext cx="646926" cy="731992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FF7DE4F-5E14-5F25-7307-150BC6DA88F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8577" y="230188"/>
            <a:ext cx="748441" cy="73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66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8D95C-7865-0A2C-B6FF-24C6DD74A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Autofit/>
          </a:bodyPr>
          <a:lstStyle/>
          <a:p>
            <a:r>
              <a:rPr lang="de-DE" sz="5400" dirty="0"/>
              <a:t>BayWa </a:t>
            </a:r>
            <a:r>
              <a:rPr lang="de-DE" sz="5400" dirty="0" err="1"/>
              <a:t>r.e</a:t>
            </a:r>
            <a:r>
              <a:rPr lang="de-DE" sz="5400" dirty="0"/>
              <a:t>. Challenge</a:t>
            </a:r>
            <a:br>
              <a:rPr lang="de-DE" sz="5400" dirty="0"/>
            </a:br>
            <a:br>
              <a:rPr lang="de-DE" sz="5400" dirty="0"/>
            </a:br>
            <a:r>
              <a:rPr lang="de-DE" sz="5400" dirty="0"/>
              <a:t>Team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E538EA-3239-B0E3-82E3-81C0A7453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FB7A98-3FCD-483D-B79B-B9898AD7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C467BC-20C4-95F6-278A-7694AB110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1</a:t>
            </a:fld>
            <a:endParaRPr lang="de-DE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36C45CD-3007-239F-4786-FEE90CB1AC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9505" y="3475247"/>
            <a:ext cx="1260776" cy="123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83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 descr="Ratlos mit einfarbiger Füllung">
            <a:extLst>
              <a:ext uri="{FF2B5EF4-FFF2-40B4-BE49-F238E27FC236}">
                <a16:creationId xmlns:a16="http://schemas.microsoft.com/office/drawing/2014/main" id="{FAFCA354-D1E7-FCFC-3E7E-2B296BBD63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963" y="3568385"/>
            <a:ext cx="914400" cy="914400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731925-413F-AB68-9FD9-A82F84827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98D968-F1D0-8F8D-9F78-E18AF083C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Munich Climate Week Hackathon - BayWa </a:t>
            </a:r>
            <a:r>
              <a:rPr lang="de-DE" dirty="0" err="1"/>
              <a:t>r.e</a:t>
            </a:r>
            <a:r>
              <a:rPr lang="de-DE" dirty="0"/>
              <a:t>. </a:t>
            </a:r>
            <a:r>
              <a:rPr lang="de-DE" dirty="0" err="1"/>
              <a:t>challenge</a:t>
            </a:r>
            <a:r>
              <a:rPr lang="de-DE" dirty="0"/>
              <a:t>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A5B7FE-96BC-2EC1-66FA-EDBE69A50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2</a:t>
            </a:fld>
            <a:endParaRPr lang="de-DE"/>
          </a:p>
        </p:txBody>
      </p:sp>
      <p:pic>
        <p:nvPicPr>
          <p:cNvPr id="10" name="Grafik 9" descr="Uhr mit einfarbiger Füllung">
            <a:extLst>
              <a:ext uri="{FF2B5EF4-FFF2-40B4-BE49-F238E27FC236}">
                <a16:creationId xmlns:a16="http://schemas.microsoft.com/office/drawing/2014/main" id="{F2262D26-D909-BF7E-76F4-EF640604EF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963" y="2430549"/>
            <a:ext cx="914400" cy="914400"/>
          </a:xfrm>
          <a:prstGeom prst="rect">
            <a:avLst/>
          </a:prstGeom>
        </p:spPr>
      </p:pic>
      <p:pic>
        <p:nvPicPr>
          <p:cNvPr id="12" name="Grafik 11" descr="Windig mit einfarbiger Füllung">
            <a:extLst>
              <a:ext uri="{FF2B5EF4-FFF2-40B4-BE49-F238E27FC236}">
                <a16:creationId xmlns:a16="http://schemas.microsoft.com/office/drawing/2014/main" id="{009DA069-BBD0-7C9A-CC30-9B28143BF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392" y="1392533"/>
            <a:ext cx="914400" cy="914400"/>
          </a:xfrm>
          <a:prstGeom prst="rect">
            <a:avLst/>
          </a:prstGeom>
        </p:spPr>
      </p:pic>
      <p:pic>
        <p:nvPicPr>
          <p:cNvPr id="19" name="Grafik 18" descr="Pfeil nach rechts mit einfarbiger Füllung">
            <a:extLst>
              <a:ext uri="{FF2B5EF4-FFF2-40B4-BE49-F238E27FC236}">
                <a16:creationId xmlns:a16="http://schemas.microsoft.com/office/drawing/2014/main" id="{23D5CE2E-441C-300E-C5FE-B77ADAD50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54792" y="2524750"/>
            <a:ext cx="914400" cy="914400"/>
          </a:xfrm>
          <a:prstGeom prst="rect">
            <a:avLst/>
          </a:prstGeom>
        </p:spPr>
      </p:pic>
      <p:pic>
        <p:nvPicPr>
          <p:cNvPr id="21" name="Grafik 20" descr="Pfeil nach rechts mit einfarbiger Füllung">
            <a:extLst>
              <a:ext uri="{FF2B5EF4-FFF2-40B4-BE49-F238E27FC236}">
                <a16:creationId xmlns:a16="http://schemas.microsoft.com/office/drawing/2014/main" id="{80DE6FB5-DCFA-9D77-207C-F4F84F296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10170">
            <a:off x="2027181" y="1809469"/>
            <a:ext cx="914400" cy="914400"/>
          </a:xfrm>
          <a:prstGeom prst="rect">
            <a:avLst/>
          </a:prstGeom>
        </p:spPr>
      </p:pic>
      <p:pic>
        <p:nvPicPr>
          <p:cNvPr id="23" name="Grafik 22" descr="Pfeil nach rechts mit einfarbiger Füllung">
            <a:extLst>
              <a:ext uri="{FF2B5EF4-FFF2-40B4-BE49-F238E27FC236}">
                <a16:creationId xmlns:a16="http://schemas.microsoft.com/office/drawing/2014/main" id="{943C5879-38D6-69BA-9A16-BD0C858C7F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577860">
            <a:off x="2020937" y="3182150"/>
            <a:ext cx="914400" cy="914400"/>
          </a:xfrm>
          <a:prstGeom prst="rect">
            <a:avLst/>
          </a:prstGeom>
        </p:spPr>
      </p:pic>
      <p:pic>
        <p:nvPicPr>
          <p:cNvPr id="25" name="Grafik 24" descr="Windkraftanlagen mit einfarbiger Füllung">
            <a:extLst>
              <a:ext uri="{FF2B5EF4-FFF2-40B4-BE49-F238E27FC236}">
                <a16:creationId xmlns:a16="http://schemas.microsoft.com/office/drawing/2014/main" id="{73F73A4C-8F87-6281-F60F-ADF9EDC854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99157" y="2569687"/>
            <a:ext cx="914400" cy="914400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45544867-AFE6-5969-D711-D34F98597BFF}"/>
              </a:ext>
            </a:extLst>
          </p:cNvPr>
          <p:cNvSpPr txBox="1"/>
          <p:nvPr/>
        </p:nvSpPr>
        <p:spPr>
          <a:xfrm>
            <a:off x="3505920" y="4797795"/>
            <a:ext cx="26082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dirty="0" err="1"/>
              <a:t>estimate</a:t>
            </a:r>
            <a:r>
              <a:rPr lang="de-DE" sz="2000" b="1" dirty="0"/>
              <a:t> wind </a:t>
            </a:r>
            <a:r>
              <a:rPr lang="de-DE" sz="2000" b="1" dirty="0" err="1"/>
              <a:t>speed</a:t>
            </a:r>
            <a:endParaRPr lang="de-DE" sz="2000" b="1" dirty="0"/>
          </a:p>
          <a:p>
            <a:pPr algn="ctr"/>
            <a:r>
              <a:rPr lang="de-DE" sz="2000" b="1" dirty="0"/>
              <a:t>by </a:t>
            </a:r>
            <a:r>
              <a:rPr lang="de-DE" sz="2000" b="1" dirty="0" err="1"/>
              <a:t>weighted</a:t>
            </a:r>
            <a:r>
              <a:rPr lang="de-DE" sz="2000" b="1" dirty="0"/>
              <a:t> sums</a:t>
            </a:r>
          </a:p>
          <a:p>
            <a:pPr algn="ctr"/>
            <a:r>
              <a:rPr lang="de-DE" sz="2000" b="1" dirty="0"/>
              <a:t>(OLS)</a:t>
            </a:r>
          </a:p>
        </p:txBody>
      </p:sp>
      <p:pic>
        <p:nvPicPr>
          <p:cNvPr id="29" name="Grafik 28" descr="Pfeil nach rechts mit einfarbiger Füllung">
            <a:extLst>
              <a:ext uri="{FF2B5EF4-FFF2-40B4-BE49-F238E27FC236}">
                <a16:creationId xmlns:a16="http://schemas.microsoft.com/office/drawing/2014/main" id="{2A63CFFB-66DD-7584-E644-89534A60BF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81638" y="2531357"/>
            <a:ext cx="914400" cy="914400"/>
          </a:xfrm>
          <a:prstGeom prst="rect">
            <a:avLst/>
          </a:prstGeom>
        </p:spPr>
      </p:pic>
      <p:pic>
        <p:nvPicPr>
          <p:cNvPr id="30" name="Image 0" descr="Power curve of the turbine. Around a predicted wind of 6.5 m/s the plausible range is shaded; the average power over that range lies above the power at the best guess, because the curve bends upward.">
            <a:extLst>
              <a:ext uri="{FF2B5EF4-FFF2-40B4-BE49-F238E27FC236}">
                <a16:creationId xmlns:a16="http://schemas.microsoft.com/office/drawing/2014/main" id="{CBFB9DF2-4CDE-D9C5-D897-2EF02E1026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21"/>
          <a:stretch>
            <a:fillRect/>
          </a:stretch>
        </p:blipFill>
        <p:spPr>
          <a:xfrm>
            <a:off x="6596038" y="1365624"/>
            <a:ext cx="4809558" cy="3057463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17161680-E660-E4E6-579D-08957787DD75}"/>
              </a:ext>
            </a:extLst>
          </p:cNvPr>
          <p:cNvSpPr txBox="1"/>
          <p:nvPr/>
        </p:nvSpPr>
        <p:spPr>
          <a:xfrm>
            <a:off x="781543" y="4797795"/>
            <a:ext cx="23051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dirty="0" err="1"/>
              <a:t>calculate</a:t>
            </a:r>
            <a:r>
              <a:rPr lang="de-DE" sz="2000" b="1" dirty="0"/>
              <a:t> </a:t>
            </a:r>
            <a:r>
              <a:rPr lang="de-DE" sz="2000" b="1" dirty="0" err="1"/>
              <a:t>features</a:t>
            </a:r>
            <a:endParaRPr lang="de-DE" sz="2000" b="1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7E7F713-92AF-C17E-4B7F-E441F79CFC54}"/>
              </a:ext>
            </a:extLst>
          </p:cNvPr>
          <p:cNvSpPr txBox="1"/>
          <p:nvPr/>
        </p:nvSpPr>
        <p:spPr>
          <a:xfrm>
            <a:off x="6968387" y="4797795"/>
            <a:ext cx="27811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dirty="0" err="1"/>
              <a:t>account</a:t>
            </a:r>
            <a:r>
              <a:rPr lang="de-DE" sz="2000" b="1" dirty="0"/>
              <a:t> for non-linear</a:t>
            </a:r>
          </a:p>
          <a:p>
            <a:pPr algn="ctr"/>
            <a:r>
              <a:rPr lang="de-DE" sz="2000" b="1" dirty="0"/>
              <a:t>power </a:t>
            </a:r>
            <a:r>
              <a:rPr lang="de-DE" sz="2000" b="1" dirty="0" err="1"/>
              <a:t>curve</a:t>
            </a:r>
            <a:endParaRPr lang="de-DE" sz="2000" b="1" dirty="0"/>
          </a:p>
        </p:txBody>
      </p:sp>
    </p:spTree>
    <p:extLst>
      <p:ext uri="{BB962C8B-B14F-4D97-AF65-F5344CB8AC3E}">
        <p14:creationId xmlns:p14="http://schemas.microsoft.com/office/powerpoint/2010/main" val="2085831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2" grpId="0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2B68C5-1929-BCF8-F8FB-4606C79C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9FB44-728E-A4CF-DE05-62EC7343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7F2538-0DEB-6C73-AFCD-93C59B39F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3</a:t>
            </a:fld>
            <a:endParaRPr 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2AD8D3B-9042-AA99-050B-262E836CA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9B6D5566-061F-0CAA-14A0-254828E3E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123" y="1071301"/>
            <a:ext cx="11741753" cy="510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117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6D8B47-41CE-6A23-A808-30EB34968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78EE66-159F-11F9-672C-30197FB87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66739-5B51-F1D4-408B-1330740A9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4</a:t>
            </a:fld>
            <a:endParaRPr lang="de-DE"/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CB343B32-4529-D25A-9997-E8C277087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082" y="1463315"/>
            <a:ext cx="11589836" cy="2997044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FA8E8B25-D000-D64F-19DC-8CAF2DAB32A5}"/>
              </a:ext>
            </a:extLst>
          </p:cNvPr>
          <p:cNvSpPr txBox="1"/>
          <p:nvPr/>
        </p:nvSpPr>
        <p:spPr>
          <a:xfrm>
            <a:off x="1108320" y="5040742"/>
            <a:ext cx="99753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000" b="1" dirty="0" err="1"/>
              <a:t>summed</a:t>
            </a:r>
            <a:r>
              <a:rPr lang="de-DE" sz="4000" b="1" dirty="0"/>
              <a:t> </a:t>
            </a:r>
            <a:r>
              <a:rPr lang="de-DE" sz="4000" b="1" dirty="0" err="1"/>
              <a:t>energy</a:t>
            </a:r>
            <a:r>
              <a:rPr lang="de-DE" sz="4000" b="1" dirty="0"/>
              <a:t> </a:t>
            </a:r>
            <a:r>
              <a:rPr lang="de-DE" sz="4000" b="1" dirty="0" err="1"/>
              <a:t>deviation</a:t>
            </a:r>
            <a:r>
              <a:rPr lang="de-DE" sz="4000" b="1" dirty="0"/>
              <a:t> on </a:t>
            </a:r>
            <a:r>
              <a:rPr lang="de-DE" sz="4000" b="1" dirty="0" err="1"/>
              <a:t>test</a:t>
            </a:r>
            <a:r>
              <a:rPr lang="de-DE" sz="4000" b="1" dirty="0"/>
              <a:t> </a:t>
            </a:r>
            <a:r>
              <a:rPr lang="de-DE" sz="4000" b="1" dirty="0" err="1"/>
              <a:t>set</a:t>
            </a:r>
            <a:r>
              <a:rPr lang="de-DE" sz="4000" b="1" dirty="0"/>
              <a:t> 2.5%</a:t>
            </a:r>
          </a:p>
        </p:txBody>
      </p:sp>
    </p:spTree>
    <p:extLst>
      <p:ext uri="{BB962C8B-B14F-4D97-AF65-F5344CB8AC3E}">
        <p14:creationId xmlns:p14="http://schemas.microsoft.com/office/powerpoint/2010/main" val="2449662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</Words>
  <Application>Microsoft Office PowerPoint</Application>
  <PresentationFormat>Breitbild</PresentationFormat>
  <Paragraphs>33</Paragraphs>
  <Slides>4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BayWa r.e. Challenge  Team 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Thalea Hollje</dc:creator>
  <cp:lastModifiedBy>Thalea Hollje</cp:lastModifiedBy>
  <cp:revision>9</cp:revision>
  <dcterms:created xsi:type="dcterms:W3CDTF">2026-10-23T21:27:42Z</dcterms:created>
  <dcterms:modified xsi:type="dcterms:W3CDTF">2026-10-24T15:55:49Z</dcterms:modified>
</cp:coreProperties>
</file>